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5913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Shape 1"/>
          <p:cNvSpPr/>
          <p:nvPr/>
        </p:nvSpPr>
        <p:spPr>
          <a:xfrm>
            <a:off x="6217920" y="73152"/>
            <a:ext cx="2926080" cy="5070348"/>
          </a:xfrm>
          <a:prstGeom prst="rect">
            <a:avLst/>
          </a:prstGeom>
          <a:solidFill>
            <a:srgbClr val="EEF4FB"/>
          </a:solidFill>
          <a:ln/>
        </p:spPr>
        <p:txBody>
          <a:bodyPr/>
          <a:lstStyle/>
          <a:p>
            <a:endParaRPr lang="en-IN"/>
          </a:p>
        </p:txBody>
      </p:sp>
      <p:sp>
        <p:nvSpPr>
          <p:cNvPr id="4" name="Shape 2"/>
          <p:cNvSpPr/>
          <p:nvPr/>
        </p:nvSpPr>
        <p:spPr>
          <a:xfrm>
            <a:off x="411480" y="896112"/>
            <a:ext cx="1325880" cy="292608"/>
          </a:xfrm>
          <a:prstGeom prst="rect">
            <a:avLst/>
          </a:prstGeom>
          <a:solidFill>
            <a:srgbClr val="1A6FBF"/>
          </a:solidFill>
          <a:ln/>
        </p:spPr>
        <p:txBody>
          <a:bodyPr/>
          <a:lstStyle/>
          <a:p>
            <a:endParaRPr lang="en-IN"/>
          </a:p>
        </p:txBody>
      </p:sp>
      <p:sp>
        <p:nvSpPr>
          <p:cNvPr id="5" name="Text 3"/>
          <p:cNvSpPr/>
          <p:nvPr/>
        </p:nvSpPr>
        <p:spPr>
          <a:xfrm>
            <a:off x="411480" y="905256"/>
            <a:ext cx="13258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Topic 1</a:t>
            </a:r>
            <a:endParaRPr lang="en-US" sz="1000" dirty="0"/>
          </a:p>
        </p:txBody>
      </p:sp>
      <p:sp>
        <p:nvSpPr>
          <p:cNvPr id="6" name="Text 4"/>
          <p:cNvSpPr/>
          <p:nvPr/>
        </p:nvSpPr>
        <p:spPr>
          <a:xfrm>
            <a:off x="411480" y="1261872"/>
            <a:ext cx="5486400" cy="1325880"/>
          </a:xfrm>
          <a:prstGeom prst="rect">
            <a:avLst/>
          </a:prstGeom>
          <a:noFill/>
          <a:ln/>
        </p:spPr>
        <p:txBody>
          <a:bodyPr wrap="square" lIns="0" tIns="0" rIns="0" bIns="0" rtlCol="0" anchor="ctr"/>
          <a:lstStyle/>
          <a:p>
            <a:pPr marL="0" indent="0" algn="l">
              <a:buNone/>
            </a:pPr>
            <a:r>
              <a:rPr lang="en-US" sz="3800" b="1" dirty="0">
                <a:solidFill>
                  <a:srgbClr val="0F4C8A"/>
                </a:solidFill>
                <a:latin typeface="Calibri" pitchFamily="34" charset="0"/>
                <a:ea typeface="Calibri" pitchFamily="34" charset="-122"/>
                <a:cs typeface="Calibri" pitchFamily="34" charset="-120"/>
              </a:rPr>
              <a:t>DevOps Overview</a:t>
            </a:r>
            <a:endParaRPr lang="en-US" sz="3800" dirty="0"/>
          </a:p>
          <a:p>
            <a:pPr marL="0" indent="0" algn="l">
              <a:buNone/>
            </a:pPr>
            <a:r>
              <a:rPr lang="en-US" sz="3800" b="1" dirty="0">
                <a:solidFill>
                  <a:srgbClr val="0F4C8A"/>
                </a:solidFill>
                <a:latin typeface="Calibri" pitchFamily="34" charset="0"/>
                <a:ea typeface="Calibri" pitchFamily="34" charset="-122"/>
                <a:cs typeface="Calibri" pitchFamily="34" charset="-120"/>
              </a:rPr>
              <a:t>and Evolution</a:t>
            </a:r>
            <a:endParaRPr lang="en-US" sz="3800" dirty="0"/>
          </a:p>
        </p:txBody>
      </p:sp>
      <p:sp>
        <p:nvSpPr>
          <p:cNvPr id="7" name="Text 5"/>
          <p:cNvSpPr/>
          <p:nvPr/>
        </p:nvSpPr>
        <p:spPr>
          <a:xfrm>
            <a:off x="411480" y="2670048"/>
            <a:ext cx="5486400" cy="502920"/>
          </a:xfrm>
          <a:prstGeom prst="rect">
            <a:avLst/>
          </a:prstGeom>
          <a:noFill/>
          <a:ln/>
        </p:spPr>
        <p:txBody>
          <a:bodyPr wrap="square" lIns="0" tIns="0" rIns="0" bIns="0" rtlCol="0" anchor="ctr"/>
          <a:lstStyle/>
          <a:p>
            <a:pPr marL="0" indent="0" algn="l">
              <a:buNone/>
            </a:pPr>
            <a:r>
              <a:rPr lang="en-US" sz="1500" dirty="0">
                <a:solidFill>
                  <a:srgbClr val="6B7280"/>
                </a:solidFill>
                <a:latin typeface="Calibri" pitchFamily="34" charset="0"/>
                <a:ea typeface="Calibri" pitchFamily="34" charset="-122"/>
                <a:cs typeface="Calibri" pitchFamily="34" charset="-120"/>
              </a:rPr>
              <a:t>From Traditional Development to Modern DevOps Practices</a:t>
            </a:r>
            <a:endParaRPr lang="en-US" sz="1500" dirty="0"/>
          </a:p>
        </p:txBody>
      </p:sp>
      <p:sp>
        <p:nvSpPr>
          <p:cNvPr id="8" name="Shape 6"/>
          <p:cNvSpPr/>
          <p:nvPr/>
        </p:nvSpPr>
        <p:spPr>
          <a:xfrm>
            <a:off x="411480" y="3337560"/>
            <a:ext cx="5394960" cy="658368"/>
          </a:xfrm>
          <a:prstGeom prst="rect">
            <a:avLst/>
          </a:prstGeom>
          <a:solidFill>
            <a:srgbClr val="EEF4FB"/>
          </a:solidFill>
          <a:ln w="12700">
            <a:solidFill>
              <a:srgbClr val="D1E3F3"/>
            </a:solidFill>
            <a:prstDash val="solid"/>
          </a:ln>
        </p:spPr>
        <p:txBody>
          <a:bodyPr/>
          <a:lstStyle/>
          <a:p>
            <a:endParaRPr lang="en-IN"/>
          </a:p>
        </p:txBody>
      </p:sp>
      <p:sp>
        <p:nvSpPr>
          <p:cNvPr id="9" name="Text 7"/>
          <p:cNvSpPr/>
          <p:nvPr/>
        </p:nvSpPr>
        <p:spPr>
          <a:xfrm>
            <a:off x="548640" y="3364992"/>
            <a:ext cx="5120640" cy="603504"/>
          </a:xfrm>
          <a:prstGeom prst="rect">
            <a:avLst/>
          </a:prstGeom>
          <a:noFill/>
          <a:ln/>
        </p:spPr>
        <p:txBody>
          <a:bodyPr wrap="square" lIns="0" tIns="0" rIns="0" bIns="0" rtlCol="0" anchor="ctr"/>
          <a:lstStyle/>
          <a:p>
            <a:pPr marL="0" indent="0">
              <a:buNone/>
            </a:pPr>
            <a:r>
              <a:rPr lang="en-US" sz="950" i="1" dirty="0">
                <a:solidFill>
                  <a:srgbClr val="374151"/>
                </a:solidFill>
                <a:latin typeface="Calibri" pitchFamily="34" charset="0"/>
                <a:ea typeface="Calibri" pitchFamily="34" charset="-122"/>
                <a:cs typeface="Calibri" pitchFamily="34" charset="-120"/>
              </a:rPr>
              <a:t>This presentation was originally prepared for Topic 5 (DevOps Lifecycle). Upon clarifying the assignment allocation, it has been rebuilt for the assigned topic - DevOps Overview and Evolution - with fully original content, a scenario-based example, and all required diagrams.</a:t>
            </a:r>
          </a:p>
        </p:txBody>
      </p:sp>
      <p:sp>
        <p:nvSpPr>
          <p:cNvPr id="10" name="Text 8"/>
          <p:cNvSpPr/>
          <p:nvPr/>
        </p:nvSpPr>
        <p:spPr>
          <a:xfrm>
            <a:off x="411480" y="4297680"/>
            <a:ext cx="5486400" cy="320040"/>
          </a:xfrm>
          <a:prstGeom prst="rect">
            <a:avLst/>
          </a:prstGeom>
          <a:noFill/>
          <a:ln/>
        </p:spPr>
        <p:txBody>
          <a:bodyPr wrap="square" lIns="0" tIns="0" rIns="0" bIns="0" rtlCol="0" anchor="ctr"/>
          <a:lstStyle/>
          <a:p>
            <a:pPr marL="0" indent="0">
              <a:buNone/>
            </a:pPr>
            <a:r>
              <a:rPr lang="en-US" sz="1100" b="1" dirty="0">
                <a:solidFill>
                  <a:srgbClr val="374151"/>
                </a:solidFill>
                <a:latin typeface="Calibri" pitchFamily="34" charset="0"/>
                <a:ea typeface="Calibri" pitchFamily="34" charset="-122"/>
                <a:cs typeface="Calibri" pitchFamily="34" charset="-120"/>
              </a:rPr>
              <a:t>Assignment II</a:t>
            </a:r>
            <a:r>
              <a:rPr lang="en-US" sz="1100" dirty="0">
                <a:solidFill>
                  <a:srgbClr val="6B7280"/>
                </a:solidFill>
                <a:latin typeface="Calibri" pitchFamily="34" charset="0"/>
                <a:ea typeface="Calibri" pitchFamily="34" charset="-122"/>
                <a:cs typeface="Calibri" pitchFamily="34" charset="-120"/>
              </a:rPr>
              <a:t>  |  DevOps Engineering</a:t>
            </a:r>
            <a:endParaRPr lang="en-US" sz="1100" dirty="0"/>
          </a:p>
        </p:txBody>
      </p:sp>
      <p:pic>
        <p:nvPicPr>
          <p:cNvPr id="11" name="Image 0" descr="preencoded.png"/>
          <p:cNvPicPr>
            <a:picLocks noChangeAspect="1"/>
          </p:cNvPicPr>
          <p:nvPr/>
        </p:nvPicPr>
        <p:blipFill>
          <a:blip r:embed="rId3"/>
          <a:stretch>
            <a:fillRect/>
          </a:stretch>
        </p:blipFill>
        <p:spPr>
          <a:xfrm>
            <a:off x="6949441" y="548640"/>
            <a:ext cx="1097280" cy="1097280"/>
          </a:xfrm>
          <a:prstGeom prst="rect">
            <a:avLst/>
          </a:prstGeom>
        </p:spPr>
      </p:pic>
      <p:sp>
        <p:nvSpPr>
          <p:cNvPr id="12" name="Text 9"/>
          <p:cNvSpPr/>
          <p:nvPr/>
        </p:nvSpPr>
        <p:spPr>
          <a:xfrm>
            <a:off x="6309360" y="1857814"/>
            <a:ext cx="2560320" cy="27432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Traditional</a:t>
            </a:r>
            <a:endParaRPr lang="en-US" sz="1100" dirty="0"/>
          </a:p>
        </p:txBody>
      </p:sp>
      <p:sp>
        <p:nvSpPr>
          <p:cNvPr id="13" name="Shape 10"/>
          <p:cNvSpPr/>
          <p:nvPr/>
        </p:nvSpPr>
        <p:spPr>
          <a:xfrm>
            <a:off x="7223760" y="2743200"/>
            <a:ext cx="201168" cy="201168"/>
          </a:xfrm>
          <a:prstGeom prst="rect">
            <a:avLst/>
          </a:prstGeom>
          <a:solidFill>
            <a:srgbClr val="1A6FBF"/>
          </a:solidFill>
          <a:ln/>
        </p:spPr>
        <p:txBody>
          <a:bodyPr/>
          <a:lstStyle/>
          <a:p>
            <a:endParaRPr lang="en-IN"/>
          </a:p>
        </p:txBody>
      </p:sp>
      <p:sp>
        <p:nvSpPr>
          <p:cNvPr id="14" name="Text 11"/>
          <p:cNvSpPr/>
          <p:nvPr/>
        </p:nvSpPr>
        <p:spPr>
          <a:xfrm>
            <a:off x="6351564" y="2706624"/>
            <a:ext cx="2560320" cy="274320"/>
          </a:xfrm>
          <a:prstGeom prst="rect">
            <a:avLst/>
          </a:prstGeom>
          <a:noFill/>
          <a:ln/>
        </p:spPr>
        <p:txBody>
          <a:bodyPr wrap="square" rtlCol="0" anchor="ctr"/>
          <a:lstStyle/>
          <a:p>
            <a:pPr marL="0" indent="0" algn="ctr">
              <a:buNone/>
            </a:pPr>
            <a:r>
              <a:rPr lang="en-US" sz="1100" b="1" dirty="0">
                <a:solidFill>
                  <a:srgbClr val="1A6FBF"/>
                </a:solidFill>
                <a:latin typeface="Calibri" pitchFamily="34" charset="0"/>
                <a:ea typeface="Calibri" pitchFamily="34" charset="-122"/>
                <a:cs typeface="Calibri" pitchFamily="34" charset="-120"/>
              </a:rPr>
              <a:t>Agile</a:t>
            </a:r>
            <a:endParaRPr lang="en-US" sz="1100" dirty="0"/>
          </a:p>
        </p:txBody>
      </p:sp>
      <p:sp>
        <p:nvSpPr>
          <p:cNvPr id="15" name="Shape 12"/>
          <p:cNvSpPr/>
          <p:nvPr/>
        </p:nvSpPr>
        <p:spPr>
          <a:xfrm>
            <a:off x="7223760" y="3108960"/>
            <a:ext cx="201168" cy="201168"/>
          </a:xfrm>
          <a:prstGeom prst="rect">
            <a:avLst/>
          </a:prstGeom>
          <a:solidFill>
            <a:srgbClr val="2D9CDB"/>
          </a:solidFill>
          <a:ln/>
        </p:spPr>
        <p:txBody>
          <a:bodyPr/>
          <a:lstStyle/>
          <a:p>
            <a:endParaRPr lang="en-IN"/>
          </a:p>
        </p:txBody>
      </p:sp>
      <p:sp>
        <p:nvSpPr>
          <p:cNvPr id="16" name="Text 13"/>
          <p:cNvSpPr/>
          <p:nvPr/>
        </p:nvSpPr>
        <p:spPr>
          <a:xfrm>
            <a:off x="6400800" y="3090672"/>
            <a:ext cx="2560320" cy="274320"/>
          </a:xfrm>
          <a:prstGeom prst="rect">
            <a:avLst/>
          </a:prstGeom>
          <a:noFill/>
          <a:ln/>
        </p:spPr>
        <p:txBody>
          <a:bodyPr wrap="square" rtlCol="0" anchor="ctr"/>
          <a:lstStyle/>
          <a:p>
            <a:pPr marL="0" indent="0" algn="ctr">
              <a:buNone/>
            </a:pPr>
            <a:r>
              <a:rPr lang="en-US" sz="1100" b="1" dirty="0">
                <a:solidFill>
                  <a:srgbClr val="0F4C8A"/>
                </a:solidFill>
                <a:latin typeface="Calibri" pitchFamily="34" charset="0"/>
                <a:ea typeface="Calibri" pitchFamily="34" charset="-122"/>
                <a:cs typeface="Calibri" pitchFamily="34" charset="-120"/>
              </a:rPr>
              <a:t>DevOps</a:t>
            </a:r>
            <a:endParaRPr lang="en-US" sz="1100" dirty="0"/>
          </a:p>
        </p:txBody>
      </p:sp>
      <p:sp>
        <p:nvSpPr>
          <p:cNvPr id="17" name="Shape 6">
            <a:extLst>
              <a:ext uri="{FF2B5EF4-FFF2-40B4-BE49-F238E27FC236}">
                <a16:creationId xmlns:a16="http://schemas.microsoft.com/office/drawing/2014/main" id="{FBFE671C-F289-C855-7911-C56E3CBE1D04}"/>
              </a:ext>
            </a:extLst>
          </p:cNvPr>
          <p:cNvSpPr/>
          <p:nvPr/>
        </p:nvSpPr>
        <p:spPr>
          <a:xfrm>
            <a:off x="6400801" y="3517391"/>
            <a:ext cx="1645920" cy="843593"/>
          </a:xfrm>
          <a:prstGeom prst="rect">
            <a:avLst/>
          </a:prstGeom>
          <a:solidFill>
            <a:srgbClr val="EEF4FB"/>
          </a:solidFill>
          <a:ln w="12700">
            <a:solidFill>
              <a:srgbClr val="D1E3F3"/>
            </a:solidFill>
            <a:prstDash val="solid"/>
          </a:ln>
        </p:spPr>
        <p:txBody>
          <a:bodyPr/>
          <a:lstStyle/>
          <a:p>
            <a:endParaRPr lang="en-IN"/>
          </a:p>
        </p:txBody>
      </p:sp>
      <p:sp>
        <p:nvSpPr>
          <p:cNvPr id="18" name="Text 7">
            <a:extLst>
              <a:ext uri="{FF2B5EF4-FFF2-40B4-BE49-F238E27FC236}">
                <a16:creationId xmlns:a16="http://schemas.microsoft.com/office/drawing/2014/main" id="{46979C61-C762-A8E0-5CB9-B235BA754104}"/>
              </a:ext>
            </a:extLst>
          </p:cNvPr>
          <p:cNvSpPr/>
          <p:nvPr/>
        </p:nvSpPr>
        <p:spPr>
          <a:xfrm>
            <a:off x="6537960" y="3544824"/>
            <a:ext cx="1712742" cy="900567"/>
          </a:xfrm>
          <a:prstGeom prst="rect">
            <a:avLst/>
          </a:prstGeom>
          <a:noFill/>
          <a:ln/>
        </p:spPr>
        <p:txBody>
          <a:bodyPr wrap="square" lIns="0" tIns="0" rIns="0" bIns="0" rtlCol="0" anchor="ctr"/>
          <a:lstStyle/>
          <a:p>
            <a:pPr marL="0" indent="0">
              <a:buNone/>
            </a:pPr>
            <a:r>
              <a:rPr lang="en-US" sz="950" i="1" dirty="0">
                <a:solidFill>
                  <a:srgbClr val="374151"/>
                </a:solidFill>
                <a:latin typeface="Calibri" pitchFamily="34" charset="0"/>
                <a:ea typeface="Calibri" pitchFamily="34" charset="-122"/>
                <a:cs typeface="Calibri" pitchFamily="34" charset="-120"/>
              </a:rPr>
              <a:t>Name: Nitanshu Tak</a:t>
            </a:r>
          </a:p>
          <a:p>
            <a:pPr marL="0" indent="0">
              <a:buNone/>
            </a:pPr>
            <a:r>
              <a:rPr lang="en-US" sz="950" i="1" dirty="0">
                <a:solidFill>
                  <a:srgbClr val="374151"/>
                </a:solidFill>
                <a:latin typeface="Calibri" pitchFamily="34" charset="0"/>
                <a:ea typeface="Calibri" pitchFamily="34" charset="-122"/>
                <a:cs typeface="Calibri" pitchFamily="34" charset="-120"/>
              </a:rPr>
              <a:t>Batch: 2 CCVT</a:t>
            </a:r>
            <a:br>
              <a:rPr lang="en-US" sz="950" i="1" dirty="0">
                <a:solidFill>
                  <a:srgbClr val="374151"/>
                </a:solidFill>
                <a:latin typeface="Calibri" pitchFamily="34" charset="0"/>
                <a:ea typeface="Calibri" pitchFamily="34" charset="-122"/>
                <a:cs typeface="Calibri" pitchFamily="34" charset="-120"/>
              </a:rPr>
            </a:br>
            <a:r>
              <a:rPr lang="en-US" sz="950" i="1" dirty="0">
                <a:solidFill>
                  <a:srgbClr val="374151"/>
                </a:solidFill>
                <a:latin typeface="Calibri" pitchFamily="34" charset="0"/>
                <a:ea typeface="Calibri" pitchFamily="34" charset="-122"/>
                <a:cs typeface="Calibri" pitchFamily="34" charset="-120"/>
              </a:rPr>
              <a:t>SapID: 500121943</a:t>
            </a:r>
          </a:p>
          <a:p>
            <a:pPr marL="0" indent="0">
              <a:buNone/>
            </a:pPr>
            <a:endParaRPr lang="en-US" sz="950" i="1" dirty="0">
              <a:solidFill>
                <a:srgbClr val="374151"/>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The World Before DevOps</a:t>
            </a:r>
            <a:endParaRPr lang="en-US" sz="2600" dirty="0"/>
          </a:p>
        </p:txBody>
      </p:sp>
      <p:sp>
        <p:nvSpPr>
          <p:cNvPr id="4" name="Text 2"/>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Understanding the pain points of traditional software development</a:t>
            </a:r>
            <a:endParaRPr lang="en-US" sz="1200" dirty="0"/>
          </a:p>
        </p:txBody>
      </p:sp>
      <p:sp>
        <p:nvSpPr>
          <p:cNvPr id="5" name="Shape 3"/>
          <p:cNvSpPr/>
          <p:nvPr/>
        </p:nvSpPr>
        <p:spPr>
          <a:xfrm>
            <a:off x="932688" y="1554480"/>
            <a:ext cx="54864" cy="256032"/>
          </a:xfrm>
          <a:prstGeom prst="rect">
            <a:avLst/>
          </a:prstGeom>
          <a:solidFill>
            <a:srgbClr val="CCCCCC"/>
          </a:solidFill>
          <a:ln/>
        </p:spPr>
        <p:txBody>
          <a:bodyPr/>
          <a:lstStyle/>
          <a:p>
            <a:endParaRPr lang="en-IN"/>
          </a:p>
        </p:txBody>
      </p:sp>
      <p:sp>
        <p:nvSpPr>
          <p:cNvPr id="6" name="Shape 4"/>
          <p:cNvSpPr/>
          <p:nvPr/>
        </p:nvSpPr>
        <p:spPr>
          <a:xfrm>
            <a:off x="640080" y="1124712"/>
            <a:ext cx="384048" cy="384048"/>
          </a:xfrm>
          <a:prstGeom prst="ellipse">
            <a:avLst/>
          </a:prstGeom>
          <a:solidFill>
            <a:srgbClr val="1A6FBF"/>
          </a:solidFill>
          <a:ln/>
        </p:spPr>
        <p:txBody>
          <a:bodyPr/>
          <a:lstStyle/>
          <a:p>
            <a:endParaRPr lang="en-IN"/>
          </a:p>
        </p:txBody>
      </p:sp>
      <p:sp>
        <p:nvSpPr>
          <p:cNvPr id="7" name="Text 5"/>
          <p:cNvSpPr/>
          <p:nvPr/>
        </p:nvSpPr>
        <p:spPr>
          <a:xfrm>
            <a:off x="640080" y="11155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Shape 6"/>
          <p:cNvSpPr/>
          <p:nvPr/>
        </p:nvSpPr>
        <p:spPr>
          <a:xfrm>
            <a:off x="1207008" y="1051560"/>
            <a:ext cx="7498080" cy="5943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9" name="Text 7"/>
          <p:cNvSpPr/>
          <p:nvPr/>
        </p:nvSpPr>
        <p:spPr>
          <a:xfrm>
            <a:off x="1371600" y="1106424"/>
            <a:ext cx="1645920" cy="228600"/>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Requirements</a:t>
            </a:r>
            <a:endParaRPr lang="en-US" sz="1200" dirty="0"/>
          </a:p>
        </p:txBody>
      </p:sp>
      <p:sp>
        <p:nvSpPr>
          <p:cNvPr id="10" name="Text 8"/>
          <p:cNvSpPr/>
          <p:nvPr/>
        </p:nvSpPr>
        <p:spPr>
          <a:xfrm>
            <a:off x="1371600" y="1325880"/>
            <a:ext cx="7132320" cy="256032"/>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Business teams wrote extensive specs, often taking months before any code was written.</a:t>
            </a:r>
            <a:endParaRPr lang="en-US" sz="1050" dirty="0"/>
          </a:p>
        </p:txBody>
      </p:sp>
      <p:sp>
        <p:nvSpPr>
          <p:cNvPr id="11" name="Shape 9"/>
          <p:cNvSpPr/>
          <p:nvPr/>
        </p:nvSpPr>
        <p:spPr>
          <a:xfrm>
            <a:off x="932688" y="2304288"/>
            <a:ext cx="54864" cy="256032"/>
          </a:xfrm>
          <a:prstGeom prst="rect">
            <a:avLst/>
          </a:prstGeom>
          <a:solidFill>
            <a:srgbClr val="CCCCCC"/>
          </a:solidFill>
          <a:ln/>
        </p:spPr>
        <p:txBody>
          <a:bodyPr/>
          <a:lstStyle/>
          <a:p>
            <a:endParaRPr lang="en-IN"/>
          </a:p>
        </p:txBody>
      </p:sp>
      <p:sp>
        <p:nvSpPr>
          <p:cNvPr id="12" name="Shape 10"/>
          <p:cNvSpPr/>
          <p:nvPr/>
        </p:nvSpPr>
        <p:spPr>
          <a:xfrm>
            <a:off x="640080" y="1874520"/>
            <a:ext cx="384048" cy="384048"/>
          </a:xfrm>
          <a:prstGeom prst="ellipse">
            <a:avLst/>
          </a:prstGeom>
          <a:solidFill>
            <a:srgbClr val="2D6A9F"/>
          </a:solidFill>
          <a:ln/>
        </p:spPr>
        <p:txBody>
          <a:bodyPr/>
          <a:lstStyle/>
          <a:p>
            <a:endParaRPr lang="en-IN"/>
          </a:p>
        </p:txBody>
      </p:sp>
      <p:sp>
        <p:nvSpPr>
          <p:cNvPr id="13" name="Text 11"/>
          <p:cNvSpPr/>
          <p:nvPr/>
        </p:nvSpPr>
        <p:spPr>
          <a:xfrm>
            <a:off x="640080" y="18653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Shape 12"/>
          <p:cNvSpPr/>
          <p:nvPr/>
        </p:nvSpPr>
        <p:spPr>
          <a:xfrm>
            <a:off x="1207008" y="1801368"/>
            <a:ext cx="7498080" cy="5943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5" name="Text 13"/>
          <p:cNvSpPr/>
          <p:nvPr/>
        </p:nvSpPr>
        <p:spPr>
          <a:xfrm>
            <a:off x="1371600" y="1856232"/>
            <a:ext cx="1645920" cy="228600"/>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Design</a:t>
            </a:r>
            <a:endParaRPr lang="en-US" sz="1200" dirty="0"/>
          </a:p>
        </p:txBody>
      </p:sp>
      <p:sp>
        <p:nvSpPr>
          <p:cNvPr id="16" name="Text 14"/>
          <p:cNvSpPr/>
          <p:nvPr/>
        </p:nvSpPr>
        <p:spPr>
          <a:xfrm>
            <a:off x="1371600" y="2075688"/>
            <a:ext cx="7132320" cy="256032"/>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Architects produced technical documents in isolation, with little input from developers.</a:t>
            </a:r>
            <a:endParaRPr lang="en-US" sz="1050" dirty="0"/>
          </a:p>
        </p:txBody>
      </p:sp>
      <p:sp>
        <p:nvSpPr>
          <p:cNvPr id="17" name="Shape 15"/>
          <p:cNvSpPr/>
          <p:nvPr/>
        </p:nvSpPr>
        <p:spPr>
          <a:xfrm>
            <a:off x="932688" y="3054096"/>
            <a:ext cx="54864" cy="256032"/>
          </a:xfrm>
          <a:prstGeom prst="rect">
            <a:avLst/>
          </a:prstGeom>
          <a:solidFill>
            <a:srgbClr val="CCCCCC"/>
          </a:solidFill>
          <a:ln/>
        </p:spPr>
        <p:txBody>
          <a:bodyPr/>
          <a:lstStyle/>
          <a:p>
            <a:endParaRPr lang="en-IN"/>
          </a:p>
        </p:txBody>
      </p:sp>
      <p:sp>
        <p:nvSpPr>
          <p:cNvPr id="18" name="Shape 16"/>
          <p:cNvSpPr/>
          <p:nvPr/>
        </p:nvSpPr>
        <p:spPr>
          <a:xfrm>
            <a:off x="640080" y="2624328"/>
            <a:ext cx="384048" cy="384048"/>
          </a:xfrm>
          <a:prstGeom prst="ellipse">
            <a:avLst/>
          </a:prstGeom>
          <a:solidFill>
            <a:srgbClr val="C0392B"/>
          </a:solidFill>
          <a:ln/>
        </p:spPr>
        <p:txBody>
          <a:bodyPr/>
          <a:lstStyle/>
          <a:p>
            <a:endParaRPr lang="en-IN"/>
          </a:p>
        </p:txBody>
      </p:sp>
      <p:sp>
        <p:nvSpPr>
          <p:cNvPr id="19" name="Text 17"/>
          <p:cNvSpPr/>
          <p:nvPr/>
        </p:nvSpPr>
        <p:spPr>
          <a:xfrm>
            <a:off x="640080" y="26151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Shape 18"/>
          <p:cNvSpPr/>
          <p:nvPr/>
        </p:nvSpPr>
        <p:spPr>
          <a:xfrm>
            <a:off x="1207008" y="2551176"/>
            <a:ext cx="7498080" cy="5943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1" name="Text 19"/>
          <p:cNvSpPr/>
          <p:nvPr/>
        </p:nvSpPr>
        <p:spPr>
          <a:xfrm>
            <a:off x="1371600" y="2606040"/>
            <a:ext cx="1645920" cy="228600"/>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Development</a:t>
            </a:r>
            <a:endParaRPr lang="en-US" sz="1200" dirty="0"/>
          </a:p>
        </p:txBody>
      </p:sp>
      <p:sp>
        <p:nvSpPr>
          <p:cNvPr id="22" name="Text 20"/>
          <p:cNvSpPr/>
          <p:nvPr/>
        </p:nvSpPr>
        <p:spPr>
          <a:xfrm>
            <a:off x="1371600" y="2825496"/>
            <a:ext cx="7132320" cy="256032"/>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Developers coded for weeks or months, never testing against production-like environments.</a:t>
            </a:r>
            <a:endParaRPr lang="en-US" sz="1050" dirty="0"/>
          </a:p>
        </p:txBody>
      </p:sp>
      <p:sp>
        <p:nvSpPr>
          <p:cNvPr id="23" name="Shape 21"/>
          <p:cNvSpPr/>
          <p:nvPr/>
        </p:nvSpPr>
        <p:spPr>
          <a:xfrm>
            <a:off x="932688" y="3803904"/>
            <a:ext cx="54864" cy="256032"/>
          </a:xfrm>
          <a:prstGeom prst="rect">
            <a:avLst/>
          </a:prstGeom>
          <a:solidFill>
            <a:srgbClr val="CCCCCC"/>
          </a:solidFill>
          <a:ln/>
        </p:spPr>
        <p:txBody>
          <a:bodyPr/>
          <a:lstStyle/>
          <a:p>
            <a:endParaRPr lang="en-IN"/>
          </a:p>
        </p:txBody>
      </p:sp>
      <p:sp>
        <p:nvSpPr>
          <p:cNvPr id="24" name="Shape 22"/>
          <p:cNvSpPr/>
          <p:nvPr/>
        </p:nvSpPr>
        <p:spPr>
          <a:xfrm>
            <a:off x="640080" y="3374136"/>
            <a:ext cx="384048" cy="384048"/>
          </a:xfrm>
          <a:prstGeom prst="ellipse">
            <a:avLst/>
          </a:prstGeom>
          <a:solidFill>
            <a:srgbClr val="E67E22"/>
          </a:solidFill>
          <a:ln/>
        </p:spPr>
        <p:txBody>
          <a:bodyPr/>
          <a:lstStyle/>
          <a:p>
            <a:endParaRPr lang="en-IN"/>
          </a:p>
        </p:txBody>
      </p:sp>
      <p:sp>
        <p:nvSpPr>
          <p:cNvPr id="25" name="Text 23"/>
          <p:cNvSpPr/>
          <p:nvPr/>
        </p:nvSpPr>
        <p:spPr>
          <a:xfrm>
            <a:off x="640080" y="3364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Shape 24"/>
          <p:cNvSpPr/>
          <p:nvPr/>
        </p:nvSpPr>
        <p:spPr>
          <a:xfrm>
            <a:off x="1207008" y="3300984"/>
            <a:ext cx="7498080" cy="5943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7" name="Text 25"/>
          <p:cNvSpPr/>
          <p:nvPr/>
        </p:nvSpPr>
        <p:spPr>
          <a:xfrm>
            <a:off x="1371600" y="3355848"/>
            <a:ext cx="1645920" cy="228600"/>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Testing</a:t>
            </a:r>
            <a:endParaRPr lang="en-US" sz="1200" dirty="0"/>
          </a:p>
        </p:txBody>
      </p:sp>
      <p:sp>
        <p:nvSpPr>
          <p:cNvPr id="28" name="Text 26"/>
          <p:cNvSpPr/>
          <p:nvPr/>
        </p:nvSpPr>
        <p:spPr>
          <a:xfrm>
            <a:off x="1371600" y="3575304"/>
            <a:ext cx="7132320" cy="256032"/>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 separate QA team received the finished build and discovered hundreds of bugs at once.</a:t>
            </a:r>
            <a:endParaRPr lang="en-US" sz="1050" dirty="0"/>
          </a:p>
        </p:txBody>
      </p:sp>
      <p:sp>
        <p:nvSpPr>
          <p:cNvPr id="29" name="Shape 27"/>
          <p:cNvSpPr/>
          <p:nvPr/>
        </p:nvSpPr>
        <p:spPr>
          <a:xfrm>
            <a:off x="640080" y="4123944"/>
            <a:ext cx="384048" cy="384048"/>
          </a:xfrm>
          <a:prstGeom prst="ellipse">
            <a:avLst/>
          </a:prstGeom>
          <a:solidFill>
            <a:srgbClr val="27AE60"/>
          </a:solidFill>
          <a:ln/>
        </p:spPr>
        <p:txBody>
          <a:bodyPr/>
          <a:lstStyle/>
          <a:p>
            <a:endParaRPr lang="en-IN"/>
          </a:p>
        </p:txBody>
      </p:sp>
      <p:sp>
        <p:nvSpPr>
          <p:cNvPr id="30" name="Text 28"/>
          <p:cNvSpPr/>
          <p:nvPr/>
        </p:nvSpPr>
        <p:spPr>
          <a:xfrm>
            <a:off x="640080" y="41148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Shape 29"/>
          <p:cNvSpPr/>
          <p:nvPr/>
        </p:nvSpPr>
        <p:spPr>
          <a:xfrm>
            <a:off x="1207008" y="4050792"/>
            <a:ext cx="7498080" cy="5943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32" name="Text 30"/>
          <p:cNvSpPr/>
          <p:nvPr/>
        </p:nvSpPr>
        <p:spPr>
          <a:xfrm>
            <a:off x="1371600" y="4105656"/>
            <a:ext cx="1645920" cy="228600"/>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Deployment</a:t>
            </a:r>
            <a:endParaRPr lang="en-US" sz="1200" dirty="0"/>
          </a:p>
        </p:txBody>
      </p:sp>
      <p:sp>
        <p:nvSpPr>
          <p:cNvPr id="33" name="Text 31"/>
          <p:cNvSpPr/>
          <p:nvPr/>
        </p:nvSpPr>
        <p:spPr>
          <a:xfrm>
            <a:off x="1371600" y="4325112"/>
            <a:ext cx="7132320" cy="256032"/>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Operations teams manually configured servers and pushed releases — often on a Friday night.</a:t>
            </a:r>
            <a:endParaRPr lang="en-US" sz="1050" dirty="0"/>
          </a:p>
        </p:txBody>
      </p:sp>
      <p:sp>
        <p:nvSpPr>
          <p:cNvPr id="34" name="Text 32"/>
          <p:cNvSpPr/>
          <p:nvPr/>
        </p:nvSpPr>
        <p:spPr>
          <a:xfrm>
            <a:off x="411480" y="4754880"/>
            <a:ext cx="8321040" cy="256032"/>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This linear, sequential model — Waterfall — meant any late-stage change required restarting the entire process.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Core Problems — Why Traditional Development Failed</a:t>
            </a:r>
            <a:endParaRPr lang="en-US" sz="2600" dirty="0"/>
          </a:p>
        </p:txBody>
      </p:sp>
      <p:sp>
        <p:nvSpPr>
          <p:cNvPr id="4" name="Text 2"/>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Six systemic failures that made software delivery slow, risky, and expensive</a:t>
            </a:r>
            <a:endParaRPr lang="en-US" sz="1200" dirty="0"/>
          </a:p>
        </p:txBody>
      </p:sp>
      <p:sp>
        <p:nvSpPr>
          <p:cNvPr id="5" name="Shape 3"/>
          <p:cNvSpPr/>
          <p:nvPr/>
        </p:nvSpPr>
        <p:spPr>
          <a:xfrm>
            <a:off x="411480" y="1051560"/>
            <a:ext cx="406908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pic>
        <p:nvPicPr>
          <p:cNvPr id="6" name="Image 0" descr="preencoded.png"/>
          <p:cNvPicPr>
            <a:picLocks noChangeAspect="1"/>
          </p:cNvPicPr>
          <p:nvPr/>
        </p:nvPicPr>
        <p:blipFill>
          <a:blip r:embed="rId3"/>
          <a:stretch>
            <a:fillRect/>
          </a:stretch>
        </p:blipFill>
        <p:spPr>
          <a:xfrm>
            <a:off x="548640" y="1399032"/>
            <a:ext cx="502920" cy="502920"/>
          </a:xfrm>
          <a:prstGeom prst="rect">
            <a:avLst/>
          </a:prstGeom>
        </p:spPr>
      </p:pic>
      <p:sp>
        <p:nvSpPr>
          <p:cNvPr id="7" name="Text 4"/>
          <p:cNvSpPr/>
          <p:nvPr/>
        </p:nvSpPr>
        <p:spPr>
          <a:xfrm>
            <a:off x="1188720" y="1143000"/>
            <a:ext cx="3200400" cy="320040"/>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Organizational Silos</a:t>
            </a:r>
            <a:endParaRPr lang="en-US" sz="1300" dirty="0"/>
          </a:p>
        </p:txBody>
      </p:sp>
      <p:sp>
        <p:nvSpPr>
          <p:cNvPr id="8" name="Text 5"/>
          <p:cNvSpPr/>
          <p:nvPr/>
        </p:nvSpPr>
        <p:spPr>
          <a:xfrm>
            <a:off x="1188720" y="1472184"/>
            <a:ext cx="3200400" cy="6858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Dev and Ops teams had separate managers, separate goals, and separate incentives. Developers were rewarded for shipping features; Ops for keeping systems stable. These goals were fundamentally at odds.</a:t>
            </a:r>
            <a:endParaRPr lang="en-US" sz="950" dirty="0"/>
          </a:p>
        </p:txBody>
      </p:sp>
      <p:sp>
        <p:nvSpPr>
          <p:cNvPr id="9" name="Shape 6"/>
          <p:cNvSpPr/>
          <p:nvPr/>
        </p:nvSpPr>
        <p:spPr>
          <a:xfrm>
            <a:off x="4846320" y="1051560"/>
            <a:ext cx="406908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pic>
        <p:nvPicPr>
          <p:cNvPr id="10" name="Image 1" descr="preencoded.png"/>
          <p:cNvPicPr>
            <a:picLocks noChangeAspect="1"/>
          </p:cNvPicPr>
          <p:nvPr/>
        </p:nvPicPr>
        <p:blipFill>
          <a:blip r:embed="rId4"/>
          <a:stretch>
            <a:fillRect/>
          </a:stretch>
        </p:blipFill>
        <p:spPr>
          <a:xfrm>
            <a:off x="4983480" y="1399032"/>
            <a:ext cx="502920" cy="502920"/>
          </a:xfrm>
          <a:prstGeom prst="rect">
            <a:avLst/>
          </a:prstGeom>
        </p:spPr>
      </p:pic>
      <p:sp>
        <p:nvSpPr>
          <p:cNvPr id="11" name="Text 7"/>
          <p:cNvSpPr/>
          <p:nvPr/>
        </p:nvSpPr>
        <p:spPr>
          <a:xfrm>
            <a:off x="5623560" y="1143000"/>
            <a:ext cx="3200400" cy="320040"/>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Slow Release Cycles</a:t>
            </a:r>
            <a:endParaRPr lang="en-US" sz="1300" dirty="0"/>
          </a:p>
        </p:txBody>
      </p:sp>
      <p:sp>
        <p:nvSpPr>
          <p:cNvPr id="12" name="Text 8"/>
          <p:cNvSpPr/>
          <p:nvPr/>
        </p:nvSpPr>
        <p:spPr>
          <a:xfrm>
            <a:off x="5623560" y="1472184"/>
            <a:ext cx="3200400" cy="6858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Annual or quarterly releases were the norm. By the time software reached users, market conditions had changed and competitors had moved ahead. Feedback arrived far too late to course-correct.</a:t>
            </a:r>
            <a:endParaRPr lang="en-US" sz="950" dirty="0"/>
          </a:p>
        </p:txBody>
      </p:sp>
      <p:sp>
        <p:nvSpPr>
          <p:cNvPr id="13" name="Shape 9"/>
          <p:cNvSpPr/>
          <p:nvPr/>
        </p:nvSpPr>
        <p:spPr>
          <a:xfrm>
            <a:off x="411480" y="2377440"/>
            <a:ext cx="406908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pic>
        <p:nvPicPr>
          <p:cNvPr id="14" name="Image 2" descr="preencoded.png"/>
          <p:cNvPicPr>
            <a:picLocks noChangeAspect="1"/>
          </p:cNvPicPr>
          <p:nvPr/>
        </p:nvPicPr>
        <p:blipFill>
          <a:blip r:embed="rId5"/>
          <a:stretch>
            <a:fillRect/>
          </a:stretch>
        </p:blipFill>
        <p:spPr>
          <a:xfrm>
            <a:off x="548640" y="2724912"/>
            <a:ext cx="502920" cy="502920"/>
          </a:xfrm>
          <a:prstGeom prst="rect">
            <a:avLst/>
          </a:prstGeom>
        </p:spPr>
      </p:pic>
      <p:sp>
        <p:nvSpPr>
          <p:cNvPr id="15" name="Text 10"/>
          <p:cNvSpPr/>
          <p:nvPr/>
        </p:nvSpPr>
        <p:spPr>
          <a:xfrm>
            <a:off x="1188720" y="2468880"/>
            <a:ext cx="3200400" cy="320040"/>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Late Defect Discovery</a:t>
            </a:r>
            <a:endParaRPr lang="en-US" sz="1300" dirty="0"/>
          </a:p>
        </p:txBody>
      </p:sp>
      <p:sp>
        <p:nvSpPr>
          <p:cNvPr id="16" name="Text 11"/>
          <p:cNvSpPr/>
          <p:nvPr/>
        </p:nvSpPr>
        <p:spPr>
          <a:xfrm>
            <a:off x="1188720" y="2798064"/>
            <a:ext cx="3200400" cy="6858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Bugs accumulated throughout development but were only caught during a final testing phase, weeks after the code was written. Fixing them meant revisiting forgotten context and often introduced new bugs.</a:t>
            </a:r>
            <a:endParaRPr lang="en-US" sz="950" dirty="0"/>
          </a:p>
        </p:txBody>
      </p:sp>
      <p:sp>
        <p:nvSpPr>
          <p:cNvPr id="17" name="Shape 12"/>
          <p:cNvSpPr/>
          <p:nvPr/>
        </p:nvSpPr>
        <p:spPr>
          <a:xfrm>
            <a:off x="4846320" y="2377440"/>
            <a:ext cx="406908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pic>
        <p:nvPicPr>
          <p:cNvPr id="18" name="Image 3" descr="preencoded.png"/>
          <p:cNvPicPr>
            <a:picLocks noChangeAspect="1"/>
          </p:cNvPicPr>
          <p:nvPr/>
        </p:nvPicPr>
        <p:blipFill>
          <a:blip r:embed="rId6"/>
          <a:stretch>
            <a:fillRect/>
          </a:stretch>
        </p:blipFill>
        <p:spPr>
          <a:xfrm>
            <a:off x="4983480" y="2724912"/>
            <a:ext cx="502920" cy="502920"/>
          </a:xfrm>
          <a:prstGeom prst="rect">
            <a:avLst/>
          </a:prstGeom>
        </p:spPr>
      </p:pic>
      <p:sp>
        <p:nvSpPr>
          <p:cNvPr id="19" name="Text 13"/>
          <p:cNvSpPr/>
          <p:nvPr/>
        </p:nvSpPr>
        <p:spPr>
          <a:xfrm>
            <a:off x="5623560" y="2468880"/>
            <a:ext cx="3200400" cy="320040"/>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Manual, Error-Prone Ops</a:t>
            </a:r>
            <a:endParaRPr lang="en-US" sz="1300" dirty="0"/>
          </a:p>
        </p:txBody>
      </p:sp>
      <p:sp>
        <p:nvSpPr>
          <p:cNvPr id="20" name="Text 14"/>
          <p:cNvSpPr/>
          <p:nvPr/>
        </p:nvSpPr>
        <p:spPr>
          <a:xfrm>
            <a:off x="5623560" y="2798064"/>
            <a:ext cx="3200400" cy="6858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Server provisioning, deployment scripts, and environment configuration were all done by hand. A single misconfiguration could take down an entire production system.</a:t>
            </a:r>
            <a:endParaRPr lang="en-US" sz="950" dirty="0"/>
          </a:p>
        </p:txBody>
      </p:sp>
      <p:sp>
        <p:nvSpPr>
          <p:cNvPr id="21" name="Shape 15"/>
          <p:cNvSpPr/>
          <p:nvPr/>
        </p:nvSpPr>
        <p:spPr>
          <a:xfrm>
            <a:off x="411480" y="3703320"/>
            <a:ext cx="406908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pic>
        <p:nvPicPr>
          <p:cNvPr id="22" name="Image 4" descr="preencoded.png"/>
          <p:cNvPicPr>
            <a:picLocks noChangeAspect="1"/>
          </p:cNvPicPr>
          <p:nvPr/>
        </p:nvPicPr>
        <p:blipFill>
          <a:blip r:embed="rId7"/>
          <a:stretch>
            <a:fillRect/>
          </a:stretch>
        </p:blipFill>
        <p:spPr>
          <a:xfrm>
            <a:off x="548640" y="4050792"/>
            <a:ext cx="502920" cy="502920"/>
          </a:xfrm>
          <a:prstGeom prst="rect">
            <a:avLst/>
          </a:prstGeom>
        </p:spPr>
      </p:pic>
      <p:sp>
        <p:nvSpPr>
          <p:cNvPr id="23" name="Text 16"/>
          <p:cNvSpPr/>
          <p:nvPr/>
        </p:nvSpPr>
        <p:spPr>
          <a:xfrm>
            <a:off x="1188720" y="3794760"/>
            <a:ext cx="3200400" cy="320040"/>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No Shared Accountability</a:t>
            </a:r>
            <a:endParaRPr lang="en-US" sz="1300" dirty="0"/>
          </a:p>
        </p:txBody>
      </p:sp>
      <p:sp>
        <p:nvSpPr>
          <p:cNvPr id="24" name="Text 17"/>
          <p:cNvSpPr/>
          <p:nvPr/>
        </p:nvSpPr>
        <p:spPr>
          <a:xfrm>
            <a:off x="1188720" y="4123944"/>
            <a:ext cx="3200400" cy="6858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When production issues occurred, teams blamed each other. Operations blamed developers for bad code; developers blamed operations for poor infrastructure. No one owned the outcome together.</a:t>
            </a:r>
            <a:endParaRPr lang="en-US" sz="950" dirty="0"/>
          </a:p>
        </p:txBody>
      </p:sp>
      <p:sp>
        <p:nvSpPr>
          <p:cNvPr id="25" name="Shape 18"/>
          <p:cNvSpPr/>
          <p:nvPr/>
        </p:nvSpPr>
        <p:spPr>
          <a:xfrm>
            <a:off x="4846320" y="3703320"/>
            <a:ext cx="406908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pic>
        <p:nvPicPr>
          <p:cNvPr id="26" name="Image 5" descr="preencoded.png"/>
          <p:cNvPicPr>
            <a:picLocks noChangeAspect="1"/>
          </p:cNvPicPr>
          <p:nvPr/>
        </p:nvPicPr>
        <p:blipFill>
          <a:blip r:embed="rId8"/>
          <a:stretch>
            <a:fillRect/>
          </a:stretch>
        </p:blipFill>
        <p:spPr>
          <a:xfrm>
            <a:off x="4983480" y="4050792"/>
            <a:ext cx="502920" cy="502920"/>
          </a:xfrm>
          <a:prstGeom prst="rect">
            <a:avLst/>
          </a:prstGeom>
        </p:spPr>
      </p:pic>
      <p:sp>
        <p:nvSpPr>
          <p:cNvPr id="27" name="Text 19"/>
          <p:cNvSpPr/>
          <p:nvPr/>
        </p:nvSpPr>
        <p:spPr>
          <a:xfrm>
            <a:off x="5623560" y="3794760"/>
            <a:ext cx="3200400" cy="320040"/>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Rigid to Change</a:t>
            </a:r>
            <a:endParaRPr lang="en-US" sz="1300" dirty="0"/>
          </a:p>
        </p:txBody>
      </p:sp>
      <p:sp>
        <p:nvSpPr>
          <p:cNvPr id="28" name="Text 20"/>
          <p:cNvSpPr/>
          <p:nvPr/>
        </p:nvSpPr>
        <p:spPr>
          <a:xfrm>
            <a:off x="5623560" y="4123944"/>
            <a:ext cx="3200400" cy="6858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Customer feedback discovered post-release could not be incorporated quickly. Requirements evolved, but the process did not. Entire project plans had to be renegotiated for small changes.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Agile — The First Step Toward Speed</a:t>
            </a:r>
            <a:endParaRPr lang="en-US" sz="2600" dirty="0"/>
          </a:p>
        </p:txBody>
      </p:sp>
      <p:sp>
        <p:nvSpPr>
          <p:cNvPr id="4" name="Text 2"/>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Agile addressed development speed, but left the deployment problem unsolved</a:t>
            </a:r>
            <a:endParaRPr lang="en-US" sz="1200" dirty="0"/>
          </a:p>
        </p:txBody>
      </p:sp>
      <p:sp>
        <p:nvSpPr>
          <p:cNvPr id="5" name="Shape 3"/>
          <p:cNvSpPr/>
          <p:nvPr/>
        </p:nvSpPr>
        <p:spPr>
          <a:xfrm>
            <a:off x="411480" y="1051560"/>
            <a:ext cx="4114800" cy="384048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6" name="Shape 4"/>
          <p:cNvSpPr/>
          <p:nvPr/>
        </p:nvSpPr>
        <p:spPr>
          <a:xfrm>
            <a:off x="411480" y="1051560"/>
            <a:ext cx="4114800" cy="475488"/>
          </a:xfrm>
          <a:prstGeom prst="rect">
            <a:avLst/>
          </a:prstGeom>
          <a:solidFill>
            <a:srgbClr val="1A6FBF"/>
          </a:solidFill>
          <a:ln/>
        </p:spPr>
        <p:txBody>
          <a:bodyPr/>
          <a:lstStyle/>
          <a:p>
            <a:endParaRPr lang="en-IN"/>
          </a:p>
        </p:txBody>
      </p:sp>
      <p:sp>
        <p:nvSpPr>
          <p:cNvPr id="7" name="Text 5"/>
          <p:cNvSpPr/>
          <p:nvPr/>
        </p:nvSpPr>
        <p:spPr>
          <a:xfrm>
            <a:off x="502920" y="1069848"/>
            <a:ext cx="393192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What Agile Changed</a:t>
            </a:r>
            <a:endParaRPr lang="en-US" sz="1400" dirty="0"/>
          </a:p>
        </p:txBody>
      </p:sp>
      <p:sp>
        <p:nvSpPr>
          <p:cNvPr id="8" name="Shape 6"/>
          <p:cNvSpPr/>
          <p:nvPr/>
        </p:nvSpPr>
        <p:spPr>
          <a:xfrm>
            <a:off x="594360" y="1719072"/>
            <a:ext cx="256032" cy="256032"/>
          </a:xfrm>
          <a:prstGeom prst="ellipse">
            <a:avLst/>
          </a:prstGeom>
          <a:solidFill>
            <a:srgbClr val="1A6FBF"/>
          </a:solidFill>
          <a:ln/>
        </p:spPr>
        <p:txBody>
          <a:bodyPr/>
          <a:lstStyle/>
          <a:p>
            <a:endParaRPr lang="en-IN"/>
          </a:p>
        </p:txBody>
      </p:sp>
      <p:sp>
        <p:nvSpPr>
          <p:cNvPr id="9" name="Text 7"/>
          <p:cNvSpPr/>
          <p:nvPr/>
        </p:nvSpPr>
        <p:spPr>
          <a:xfrm>
            <a:off x="960120" y="1673352"/>
            <a:ext cx="3383280" cy="256032"/>
          </a:xfrm>
          <a:prstGeom prst="rect">
            <a:avLst/>
          </a:prstGeom>
          <a:noFill/>
          <a:ln/>
        </p:spPr>
        <p:txBody>
          <a:bodyPr wrap="square" lIns="0" tIns="0" rIns="0" bIns="0" rtlCol="0" anchor="ctr"/>
          <a:lstStyle/>
          <a:p>
            <a:pPr marL="0" indent="0">
              <a:buNone/>
            </a:pPr>
            <a:r>
              <a:rPr lang="en-US" sz="1100" b="1" dirty="0">
                <a:solidFill>
                  <a:srgbClr val="0F4C8A"/>
                </a:solidFill>
                <a:latin typeface="Calibri" pitchFamily="34" charset="0"/>
                <a:ea typeface="Calibri" pitchFamily="34" charset="-122"/>
                <a:cs typeface="Calibri" pitchFamily="34" charset="-120"/>
              </a:rPr>
              <a:t>Iterative Development</a:t>
            </a:r>
            <a:endParaRPr lang="en-US" sz="1100" dirty="0"/>
          </a:p>
        </p:txBody>
      </p:sp>
      <p:sp>
        <p:nvSpPr>
          <p:cNvPr id="10" name="Text 8"/>
          <p:cNvSpPr/>
          <p:nvPr/>
        </p:nvSpPr>
        <p:spPr>
          <a:xfrm>
            <a:off x="960120" y="1920240"/>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Work was broken into 2–4 week sprints. Software was built and reviewed incrementally rather than as one massive release.</a:t>
            </a:r>
            <a:endParaRPr lang="en-US" sz="950" dirty="0"/>
          </a:p>
        </p:txBody>
      </p:sp>
      <p:sp>
        <p:nvSpPr>
          <p:cNvPr id="11" name="Shape 9"/>
          <p:cNvSpPr/>
          <p:nvPr/>
        </p:nvSpPr>
        <p:spPr>
          <a:xfrm>
            <a:off x="594360" y="2386584"/>
            <a:ext cx="256032" cy="256032"/>
          </a:xfrm>
          <a:prstGeom prst="ellipse">
            <a:avLst/>
          </a:prstGeom>
          <a:solidFill>
            <a:srgbClr val="1A6FBF"/>
          </a:solidFill>
          <a:ln/>
        </p:spPr>
        <p:txBody>
          <a:bodyPr/>
          <a:lstStyle/>
          <a:p>
            <a:endParaRPr lang="en-IN"/>
          </a:p>
        </p:txBody>
      </p:sp>
      <p:sp>
        <p:nvSpPr>
          <p:cNvPr id="12" name="Text 10"/>
          <p:cNvSpPr/>
          <p:nvPr/>
        </p:nvSpPr>
        <p:spPr>
          <a:xfrm>
            <a:off x="960120" y="2340864"/>
            <a:ext cx="3383280" cy="256032"/>
          </a:xfrm>
          <a:prstGeom prst="rect">
            <a:avLst/>
          </a:prstGeom>
          <a:noFill/>
          <a:ln/>
        </p:spPr>
        <p:txBody>
          <a:bodyPr wrap="square" lIns="0" tIns="0" rIns="0" bIns="0" rtlCol="0" anchor="ctr"/>
          <a:lstStyle/>
          <a:p>
            <a:pPr marL="0" indent="0">
              <a:buNone/>
            </a:pPr>
            <a:r>
              <a:rPr lang="en-US" sz="1100" b="1" dirty="0">
                <a:solidFill>
                  <a:srgbClr val="0F4C8A"/>
                </a:solidFill>
                <a:latin typeface="Calibri" pitchFamily="34" charset="0"/>
                <a:ea typeface="Calibri" pitchFamily="34" charset="-122"/>
                <a:cs typeface="Calibri" pitchFamily="34" charset="-120"/>
              </a:rPr>
              <a:t>Cross-functional Teams</a:t>
            </a:r>
            <a:endParaRPr lang="en-US" sz="1100" dirty="0"/>
          </a:p>
        </p:txBody>
      </p:sp>
      <p:sp>
        <p:nvSpPr>
          <p:cNvPr id="13" name="Text 11"/>
          <p:cNvSpPr/>
          <p:nvPr/>
        </p:nvSpPr>
        <p:spPr>
          <a:xfrm>
            <a:off x="960120" y="2587752"/>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Developers, testers, and product managers sat together and communicated daily through stand-ups and retrospectives.</a:t>
            </a:r>
            <a:endParaRPr lang="en-US" sz="950" dirty="0"/>
          </a:p>
        </p:txBody>
      </p:sp>
      <p:sp>
        <p:nvSpPr>
          <p:cNvPr id="14" name="Shape 12"/>
          <p:cNvSpPr/>
          <p:nvPr/>
        </p:nvSpPr>
        <p:spPr>
          <a:xfrm>
            <a:off x="594360" y="3054096"/>
            <a:ext cx="256032" cy="256032"/>
          </a:xfrm>
          <a:prstGeom prst="ellipse">
            <a:avLst/>
          </a:prstGeom>
          <a:solidFill>
            <a:srgbClr val="1A6FBF"/>
          </a:solidFill>
          <a:ln/>
        </p:spPr>
        <p:txBody>
          <a:bodyPr/>
          <a:lstStyle/>
          <a:p>
            <a:endParaRPr lang="en-IN"/>
          </a:p>
        </p:txBody>
      </p:sp>
      <p:sp>
        <p:nvSpPr>
          <p:cNvPr id="15" name="Text 13"/>
          <p:cNvSpPr/>
          <p:nvPr/>
        </p:nvSpPr>
        <p:spPr>
          <a:xfrm>
            <a:off x="960120" y="3008376"/>
            <a:ext cx="3383280" cy="256032"/>
          </a:xfrm>
          <a:prstGeom prst="rect">
            <a:avLst/>
          </a:prstGeom>
          <a:noFill/>
          <a:ln/>
        </p:spPr>
        <p:txBody>
          <a:bodyPr wrap="square" lIns="0" tIns="0" rIns="0" bIns="0" rtlCol="0" anchor="ctr"/>
          <a:lstStyle/>
          <a:p>
            <a:pPr marL="0" indent="0">
              <a:buNone/>
            </a:pPr>
            <a:r>
              <a:rPr lang="en-US" sz="1100" b="1" dirty="0">
                <a:solidFill>
                  <a:srgbClr val="0F4C8A"/>
                </a:solidFill>
                <a:latin typeface="Calibri" pitchFamily="34" charset="0"/>
                <a:ea typeface="Calibri" pitchFamily="34" charset="-122"/>
                <a:cs typeface="Calibri" pitchFamily="34" charset="-120"/>
              </a:rPr>
              <a:t>Customer Collaboration</a:t>
            </a:r>
            <a:endParaRPr lang="en-US" sz="1100" dirty="0"/>
          </a:p>
        </p:txBody>
      </p:sp>
      <p:sp>
        <p:nvSpPr>
          <p:cNvPr id="16" name="Text 14"/>
          <p:cNvSpPr/>
          <p:nvPr/>
        </p:nvSpPr>
        <p:spPr>
          <a:xfrm>
            <a:off x="960120" y="3255264"/>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Working software was demonstrated to stakeholders every sprint. Feedback was incorporated in the next cycle, not the next year.</a:t>
            </a:r>
            <a:endParaRPr lang="en-US" sz="950" dirty="0"/>
          </a:p>
        </p:txBody>
      </p:sp>
      <p:sp>
        <p:nvSpPr>
          <p:cNvPr id="17" name="Shape 15"/>
          <p:cNvSpPr/>
          <p:nvPr/>
        </p:nvSpPr>
        <p:spPr>
          <a:xfrm>
            <a:off x="594360" y="3721608"/>
            <a:ext cx="256032" cy="256032"/>
          </a:xfrm>
          <a:prstGeom prst="ellipse">
            <a:avLst/>
          </a:prstGeom>
          <a:solidFill>
            <a:srgbClr val="1A6FBF"/>
          </a:solidFill>
          <a:ln/>
        </p:spPr>
        <p:txBody>
          <a:bodyPr/>
          <a:lstStyle/>
          <a:p>
            <a:endParaRPr lang="en-IN"/>
          </a:p>
        </p:txBody>
      </p:sp>
      <p:sp>
        <p:nvSpPr>
          <p:cNvPr id="18" name="Text 16"/>
          <p:cNvSpPr/>
          <p:nvPr/>
        </p:nvSpPr>
        <p:spPr>
          <a:xfrm>
            <a:off x="960120" y="3675888"/>
            <a:ext cx="3383280" cy="256032"/>
          </a:xfrm>
          <a:prstGeom prst="rect">
            <a:avLst/>
          </a:prstGeom>
          <a:noFill/>
          <a:ln/>
        </p:spPr>
        <p:txBody>
          <a:bodyPr wrap="square" lIns="0" tIns="0" rIns="0" bIns="0" rtlCol="0" anchor="ctr"/>
          <a:lstStyle/>
          <a:p>
            <a:pPr marL="0" indent="0">
              <a:buNone/>
            </a:pPr>
            <a:r>
              <a:rPr lang="en-US" sz="1100" b="1" dirty="0">
                <a:solidFill>
                  <a:srgbClr val="0F4C8A"/>
                </a:solidFill>
                <a:latin typeface="Calibri" pitchFamily="34" charset="0"/>
                <a:ea typeface="Calibri" pitchFamily="34" charset="-122"/>
                <a:cs typeface="Calibri" pitchFamily="34" charset="-120"/>
              </a:rPr>
              <a:t>Adaptive Planning</a:t>
            </a:r>
            <a:endParaRPr lang="en-US" sz="1100" dirty="0"/>
          </a:p>
        </p:txBody>
      </p:sp>
      <p:sp>
        <p:nvSpPr>
          <p:cNvPr id="19" name="Text 17"/>
          <p:cNvSpPr/>
          <p:nvPr/>
        </p:nvSpPr>
        <p:spPr>
          <a:xfrm>
            <a:off x="960120" y="3922776"/>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Roadmaps could change sprint-to-sprint based on new information, rather than being locked in a requirements document from month one.</a:t>
            </a:r>
            <a:endParaRPr lang="en-US" sz="950" dirty="0"/>
          </a:p>
        </p:txBody>
      </p:sp>
      <p:sp>
        <p:nvSpPr>
          <p:cNvPr id="20" name="Shape 18"/>
          <p:cNvSpPr/>
          <p:nvPr/>
        </p:nvSpPr>
        <p:spPr>
          <a:xfrm>
            <a:off x="4754880" y="1051560"/>
            <a:ext cx="4023360" cy="384048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1" name="Shape 19"/>
          <p:cNvSpPr/>
          <p:nvPr/>
        </p:nvSpPr>
        <p:spPr>
          <a:xfrm>
            <a:off x="4754880" y="1051560"/>
            <a:ext cx="4023360" cy="475488"/>
          </a:xfrm>
          <a:prstGeom prst="rect">
            <a:avLst/>
          </a:prstGeom>
          <a:solidFill>
            <a:srgbClr val="C0392B"/>
          </a:solidFill>
          <a:ln/>
        </p:spPr>
        <p:txBody>
          <a:bodyPr/>
          <a:lstStyle/>
          <a:p>
            <a:endParaRPr lang="en-IN"/>
          </a:p>
        </p:txBody>
      </p:sp>
      <p:sp>
        <p:nvSpPr>
          <p:cNvPr id="22" name="Text 20"/>
          <p:cNvSpPr/>
          <p:nvPr/>
        </p:nvSpPr>
        <p:spPr>
          <a:xfrm>
            <a:off x="4846320" y="1069848"/>
            <a:ext cx="384048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What Agile Left Unsolved</a:t>
            </a:r>
            <a:endParaRPr lang="en-US" sz="1400" dirty="0"/>
          </a:p>
        </p:txBody>
      </p:sp>
      <p:sp>
        <p:nvSpPr>
          <p:cNvPr id="23" name="Shape 21"/>
          <p:cNvSpPr/>
          <p:nvPr/>
        </p:nvSpPr>
        <p:spPr>
          <a:xfrm>
            <a:off x="4937760" y="1719072"/>
            <a:ext cx="256032" cy="256032"/>
          </a:xfrm>
          <a:prstGeom prst="ellipse">
            <a:avLst/>
          </a:prstGeom>
          <a:solidFill>
            <a:srgbClr val="C0392B"/>
          </a:solidFill>
          <a:ln/>
        </p:spPr>
        <p:txBody>
          <a:bodyPr/>
          <a:lstStyle/>
          <a:p>
            <a:endParaRPr lang="en-IN"/>
          </a:p>
        </p:txBody>
      </p:sp>
      <p:sp>
        <p:nvSpPr>
          <p:cNvPr id="24" name="Text 22"/>
          <p:cNvSpPr/>
          <p:nvPr/>
        </p:nvSpPr>
        <p:spPr>
          <a:xfrm>
            <a:off x="5285232" y="1673352"/>
            <a:ext cx="3383280" cy="256032"/>
          </a:xfrm>
          <a:prstGeom prst="rect">
            <a:avLst/>
          </a:prstGeom>
          <a:noFill/>
          <a:ln/>
        </p:spPr>
        <p:txBody>
          <a:bodyPr wrap="square" lIns="0" tIns="0" rIns="0" bIns="0" rtlCol="0" anchor="ctr"/>
          <a:lstStyle/>
          <a:p>
            <a:pPr marL="0" indent="0">
              <a:buNone/>
            </a:pPr>
            <a:r>
              <a:rPr lang="en-US" sz="1100" b="1" dirty="0">
                <a:solidFill>
                  <a:srgbClr val="7B241C"/>
                </a:solidFill>
                <a:latin typeface="Calibri" pitchFamily="34" charset="0"/>
                <a:ea typeface="Calibri" pitchFamily="34" charset="-122"/>
                <a:cs typeface="Calibri" pitchFamily="34" charset="-120"/>
              </a:rPr>
              <a:t>Deployment Still Manual</a:t>
            </a:r>
            <a:endParaRPr lang="en-US" sz="1100" dirty="0"/>
          </a:p>
        </p:txBody>
      </p:sp>
      <p:sp>
        <p:nvSpPr>
          <p:cNvPr id="25" name="Text 23"/>
          <p:cNvSpPr/>
          <p:nvPr/>
        </p:nvSpPr>
        <p:spPr>
          <a:xfrm>
            <a:off x="5285232" y="1920240"/>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Agile produced working software every sprint, but getting it into production still required manual handoffs to Operations teams who were entirely separate.</a:t>
            </a:r>
            <a:endParaRPr lang="en-US" sz="950" dirty="0"/>
          </a:p>
        </p:txBody>
      </p:sp>
      <p:sp>
        <p:nvSpPr>
          <p:cNvPr id="26" name="Shape 24"/>
          <p:cNvSpPr/>
          <p:nvPr/>
        </p:nvSpPr>
        <p:spPr>
          <a:xfrm>
            <a:off x="4937760" y="2386584"/>
            <a:ext cx="256032" cy="256032"/>
          </a:xfrm>
          <a:prstGeom prst="ellipse">
            <a:avLst/>
          </a:prstGeom>
          <a:solidFill>
            <a:srgbClr val="C0392B"/>
          </a:solidFill>
          <a:ln/>
        </p:spPr>
        <p:txBody>
          <a:bodyPr/>
          <a:lstStyle/>
          <a:p>
            <a:endParaRPr lang="en-IN"/>
          </a:p>
        </p:txBody>
      </p:sp>
      <p:sp>
        <p:nvSpPr>
          <p:cNvPr id="27" name="Text 25"/>
          <p:cNvSpPr/>
          <p:nvPr/>
        </p:nvSpPr>
        <p:spPr>
          <a:xfrm>
            <a:off x="5285232" y="2340864"/>
            <a:ext cx="3383280" cy="256032"/>
          </a:xfrm>
          <a:prstGeom prst="rect">
            <a:avLst/>
          </a:prstGeom>
          <a:noFill/>
          <a:ln/>
        </p:spPr>
        <p:txBody>
          <a:bodyPr wrap="square" lIns="0" tIns="0" rIns="0" bIns="0" rtlCol="0" anchor="ctr"/>
          <a:lstStyle/>
          <a:p>
            <a:pPr marL="0" indent="0">
              <a:buNone/>
            </a:pPr>
            <a:r>
              <a:rPr lang="en-US" sz="1100" b="1" dirty="0">
                <a:solidFill>
                  <a:srgbClr val="7B241C"/>
                </a:solidFill>
                <a:latin typeface="Calibri" pitchFamily="34" charset="0"/>
                <a:ea typeface="Calibri" pitchFamily="34" charset="-122"/>
                <a:cs typeface="Calibri" pitchFamily="34" charset="-120"/>
              </a:rPr>
              <a:t>No Shared Infrastructure</a:t>
            </a:r>
            <a:endParaRPr lang="en-US" sz="1100" dirty="0"/>
          </a:p>
        </p:txBody>
      </p:sp>
      <p:sp>
        <p:nvSpPr>
          <p:cNvPr id="28" name="Text 26"/>
          <p:cNvSpPr/>
          <p:nvPr/>
        </p:nvSpPr>
        <p:spPr>
          <a:xfrm>
            <a:off x="5285232" y="2587752"/>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Developers built code on laptops; Ops managed production servers. Environments were different, so 'it works on my machine' was a genuine problem.</a:t>
            </a:r>
            <a:endParaRPr lang="en-US" sz="950" dirty="0"/>
          </a:p>
        </p:txBody>
      </p:sp>
      <p:sp>
        <p:nvSpPr>
          <p:cNvPr id="29" name="Shape 27"/>
          <p:cNvSpPr/>
          <p:nvPr/>
        </p:nvSpPr>
        <p:spPr>
          <a:xfrm>
            <a:off x="4937760" y="3054096"/>
            <a:ext cx="256032" cy="256032"/>
          </a:xfrm>
          <a:prstGeom prst="ellipse">
            <a:avLst/>
          </a:prstGeom>
          <a:solidFill>
            <a:srgbClr val="C0392B"/>
          </a:solidFill>
          <a:ln/>
        </p:spPr>
        <p:txBody>
          <a:bodyPr/>
          <a:lstStyle/>
          <a:p>
            <a:endParaRPr lang="en-IN"/>
          </a:p>
        </p:txBody>
      </p:sp>
      <p:sp>
        <p:nvSpPr>
          <p:cNvPr id="30" name="Text 28"/>
          <p:cNvSpPr/>
          <p:nvPr/>
        </p:nvSpPr>
        <p:spPr>
          <a:xfrm>
            <a:off x="5285232" y="3008376"/>
            <a:ext cx="3383280" cy="256032"/>
          </a:xfrm>
          <a:prstGeom prst="rect">
            <a:avLst/>
          </a:prstGeom>
          <a:noFill/>
          <a:ln/>
        </p:spPr>
        <p:txBody>
          <a:bodyPr wrap="square" lIns="0" tIns="0" rIns="0" bIns="0" rtlCol="0" anchor="ctr"/>
          <a:lstStyle/>
          <a:p>
            <a:pPr marL="0" indent="0">
              <a:buNone/>
            </a:pPr>
            <a:r>
              <a:rPr lang="en-US" sz="1100" b="1" dirty="0">
                <a:solidFill>
                  <a:srgbClr val="7B241C"/>
                </a:solidFill>
                <a:latin typeface="Calibri" pitchFamily="34" charset="0"/>
                <a:ea typeface="Calibri" pitchFamily="34" charset="-122"/>
                <a:cs typeface="Calibri" pitchFamily="34" charset="-120"/>
              </a:rPr>
              <a:t>Testing Often an Afterthought</a:t>
            </a:r>
            <a:endParaRPr lang="en-US" sz="1100" dirty="0"/>
          </a:p>
        </p:txBody>
      </p:sp>
      <p:sp>
        <p:nvSpPr>
          <p:cNvPr id="31" name="Text 29"/>
          <p:cNvSpPr/>
          <p:nvPr/>
        </p:nvSpPr>
        <p:spPr>
          <a:xfrm>
            <a:off x="5285232" y="3255264"/>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Automated testing was recommended by Agile but rarely enforced. Many teams still relied on end-of-sprint manual QA cycles.</a:t>
            </a:r>
            <a:endParaRPr lang="en-US" sz="950" dirty="0"/>
          </a:p>
        </p:txBody>
      </p:sp>
      <p:sp>
        <p:nvSpPr>
          <p:cNvPr id="32" name="Shape 30"/>
          <p:cNvSpPr/>
          <p:nvPr/>
        </p:nvSpPr>
        <p:spPr>
          <a:xfrm>
            <a:off x="4937760" y="3721608"/>
            <a:ext cx="256032" cy="256032"/>
          </a:xfrm>
          <a:prstGeom prst="ellipse">
            <a:avLst/>
          </a:prstGeom>
          <a:solidFill>
            <a:srgbClr val="C0392B"/>
          </a:solidFill>
          <a:ln/>
        </p:spPr>
        <p:txBody>
          <a:bodyPr/>
          <a:lstStyle/>
          <a:p>
            <a:endParaRPr lang="en-IN"/>
          </a:p>
        </p:txBody>
      </p:sp>
      <p:sp>
        <p:nvSpPr>
          <p:cNvPr id="33" name="Text 31"/>
          <p:cNvSpPr/>
          <p:nvPr/>
        </p:nvSpPr>
        <p:spPr>
          <a:xfrm>
            <a:off x="5285232" y="3675888"/>
            <a:ext cx="3383280" cy="256032"/>
          </a:xfrm>
          <a:prstGeom prst="rect">
            <a:avLst/>
          </a:prstGeom>
          <a:noFill/>
          <a:ln/>
        </p:spPr>
        <p:txBody>
          <a:bodyPr wrap="square" lIns="0" tIns="0" rIns="0" bIns="0" rtlCol="0" anchor="ctr"/>
          <a:lstStyle/>
          <a:p>
            <a:pPr marL="0" indent="0">
              <a:buNone/>
            </a:pPr>
            <a:r>
              <a:rPr lang="en-US" sz="1100" b="1" dirty="0">
                <a:solidFill>
                  <a:srgbClr val="7B241C"/>
                </a:solidFill>
                <a:latin typeface="Calibri" pitchFamily="34" charset="0"/>
                <a:ea typeface="Calibri" pitchFamily="34" charset="-122"/>
                <a:cs typeface="Calibri" pitchFamily="34" charset="-120"/>
              </a:rPr>
              <a:t>Ops Not in the Sprint</a:t>
            </a:r>
            <a:endParaRPr lang="en-US" sz="1100" dirty="0"/>
          </a:p>
        </p:txBody>
      </p:sp>
      <p:sp>
        <p:nvSpPr>
          <p:cNvPr id="34" name="Text 32"/>
          <p:cNvSpPr/>
          <p:nvPr/>
        </p:nvSpPr>
        <p:spPr>
          <a:xfrm>
            <a:off x="5285232" y="3922776"/>
            <a:ext cx="3383280" cy="34747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Operations was only involved at release time. They had no context on what changed or why, making troubleshooting slow and frustrating for everyone.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The Evolution of Software Development</a:t>
            </a:r>
            <a:endParaRPr lang="en-US" sz="2600" dirty="0"/>
          </a:p>
        </p:txBody>
      </p:sp>
      <p:sp>
        <p:nvSpPr>
          <p:cNvPr id="4" name="Text 2"/>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Three paradigm shifts, each solving the failures of what came before</a:t>
            </a:r>
            <a:endParaRPr lang="en-US" sz="1200" dirty="0"/>
          </a:p>
        </p:txBody>
      </p:sp>
      <p:pic>
        <p:nvPicPr>
          <p:cNvPr id="5" name="Image 0" descr="/home/claude/img_evolution.png"/>
          <p:cNvPicPr>
            <a:picLocks noChangeAspect="1"/>
          </p:cNvPicPr>
          <p:nvPr/>
        </p:nvPicPr>
        <p:blipFill>
          <a:blip r:embed="rId3"/>
          <a:srcRect/>
          <a:stretch/>
        </p:blipFill>
        <p:spPr>
          <a:xfrm>
            <a:off x="432010" y="1143000"/>
            <a:ext cx="8300510" cy="3267222"/>
          </a:xfrm>
          <a:prstGeom prst="rect">
            <a:avLst/>
          </a:prstGeom>
        </p:spPr>
      </p:pic>
      <p:sp>
        <p:nvSpPr>
          <p:cNvPr id="6" name="Shape 3"/>
          <p:cNvSpPr/>
          <p:nvPr/>
        </p:nvSpPr>
        <p:spPr>
          <a:xfrm>
            <a:off x="411480" y="4645152"/>
            <a:ext cx="8321040" cy="347472"/>
          </a:xfrm>
          <a:prstGeom prst="rect">
            <a:avLst/>
          </a:prstGeom>
          <a:solidFill>
            <a:srgbClr val="EEF4FB"/>
          </a:solidFill>
          <a:ln w="12700">
            <a:solidFill>
              <a:srgbClr val="D1E3F3"/>
            </a:solidFill>
            <a:prstDash val="solid"/>
          </a:ln>
        </p:spPr>
        <p:txBody>
          <a:bodyPr/>
          <a:lstStyle/>
          <a:p>
            <a:endParaRPr lang="en-IN"/>
          </a:p>
        </p:txBody>
      </p:sp>
      <p:sp>
        <p:nvSpPr>
          <p:cNvPr id="7" name="Text 4"/>
          <p:cNvSpPr/>
          <p:nvPr/>
        </p:nvSpPr>
        <p:spPr>
          <a:xfrm>
            <a:off x="594360" y="4663440"/>
            <a:ext cx="7955280" cy="310896"/>
          </a:xfrm>
          <a:prstGeom prst="rect">
            <a:avLst/>
          </a:prstGeom>
          <a:noFill/>
          <a:ln/>
        </p:spPr>
        <p:txBody>
          <a:bodyPr wrap="square" lIns="0" tIns="0" rIns="0" bIns="0" rtlCol="0" anchor="ctr"/>
          <a:lstStyle/>
          <a:p>
            <a:pPr marL="0" indent="0">
              <a:buNone/>
            </a:pPr>
            <a:r>
              <a:rPr lang="en-US" sz="1000" i="1" dirty="0">
                <a:solidFill>
                  <a:srgbClr val="374151"/>
                </a:solidFill>
                <a:latin typeface="Calibri" pitchFamily="34" charset="0"/>
                <a:ea typeface="Calibri" pitchFamily="34" charset="-122"/>
                <a:cs typeface="Calibri" pitchFamily="34" charset="-120"/>
              </a:rPr>
              <a:t>Each stage emerged from genuine failure: Waterfall's rigidity drove Agile adoption; Agile's deployment gap drove DevOps. Evolution was never theoretical - it was forced by industry pain.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Traditional, Agile, and DevOps — Side by Side</a:t>
            </a:r>
            <a:endParaRPr lang="en-US" sz="2600" dirty="0"/>
          </a:p>
        </p:txBody>
      </p:sp>
      <p:sp>
        <p:nvSpPr>
          <p:cNvPr id="4" name="Text 2"/>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illustration captures how team structure and tooling transformed across each era</a:t>
            </a:r>
            <a:endParaRPr lang="en-US" sz="1200" dirty="0"/>
          </a:p>
        </p:txBody>
      </p:sp>
      <p:pic>
        <p:nvPicPr>
          <p:cNvPr id="5" name="Image 0" descr="/home/claude/img_trad_vs_devops.png"/>
          <p:cNvPicPr>
            <a:picLocks noChangeAspect="1"/>
          </p:cNvPicPr>
          <p:nvPr/>
        </p:nvPicPr>
        <p:blipFill>
          <a:blip r:embed="rId3"/>
          <a:srcRect/>
          <a:stretch/>
        </p:blipFill>
        <p:spPr>
          <a:xfrm>
            <a:off x="274320" y="1143000"/>
            <a:ext cx="8595360" cy="3474720"/>
          </a:xfrm>
          <a:prstGeom prst="rect">
            <a:avLst/>
          </a:prstGeom>
        </p:spPr>
      </p:pic>
      <p:sp>
        <p:nvSpPr>
          <p:cNvPr id="6" name="Shape 3"/>
          <p:cNvSpPr/>
          <p:nvPr/>
        </p:nvSpPr>
        <p:spPr>
          <a:xfrm>
            <a:off x="411480" y="4709160"/>
            <a:ext cx="8321040" cy="292608"/>
          </a:xfrm>
          <a:prstGeom prst="rect">
            <a:avLst/>
          </a:prstGeom>
          <a:solidFill>
            <a:srgbClr val="EEF4FB"/>
          </a:solidFill>
          <a:ln w="12700">
            <a:solidFill>
              <a:srgbClr val="D1E3F3"/>
            </a:solidFill>
            <a:prstDash val="solid"/>
          </a:ln>
        </p:spPr>
        <p:txBody>
          <a:bodyPr/>
          <a:lstStyle/>
          <a:p>
            <a:endParaRPr lang="en-IN"/>
          </a:p>
        </p:txBody>
      </p:sp>
      <p:sp>
        <p:nvSpPr>
          <p:cNvPr id="7" name="Text 4"/>
          <p:cNvSpPr/>
          <p:nvPr/>
        </p:nvSpPr>
        <p:spPr>
          <a:xfrm>
            <a:off x="594360" y="4727448"/>
            <a:ext cx="7955280" cy="256032"/>
          </a:xfrm>
          <a:prstGeom prst="rect">
            <a:avLst/>
          </a:prstGeom>
          <a:noFill/>
          <a:ln/>
        </p:spPr>
        <p:txBody>
          <a:bodyPr wrap="square" lIns="0" tIns="0" rIns="0" bIns="0" rtlCol="0" anchor="ctr"/>
          <a:lstStyle/>
          <a:p>
            <a:pPr marL="0" indent="0">
              <a:buNone/>
            </a:pPr>
            <a:r>
              <a:rPr lang="en-US" sz="1000" i="1" dirty="0">
                <a:solidFill>
                  <a:srgbClr val="374151"/>
                </a:solidFill>
                <a:latin typeface="Calibri" pitchFamily="34" charset="0"/>
                <a:ea typeface="Calibri" pitchFamily="34" charset="-122"/>
                <a:cs typeface="Calibri" pitchFamily="34" charset="-120"/>
              </a:rPr>
              <a:t>Left: isolated Dev and Ops buildings with a time bottleneck. Right: a unified cross-functional team collaborating on shared tooling, pipelines, and dashboards.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What is DevOps?</a:t>
            </a:r>
            <a:endParaRPr lang="en-US" sz="2600" dirty="0"/>
          </a:p>
        </p:txBody>
      </p:sp>
      <p:sp>
        <p:nvSpPr>
          <p:cNvPr id="4" name="Text 2"/>
          <p:cNvSpPr/>
          <p:nvPr/>
        </p:nvSpPr>
        <p:spPr>
          <a:xfrm>
            <a:off x="411480" y="726948"/>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 culture, a set of practices, and a toolchain - not a product or a job title</a:t>
            </a:r>
            <a:endParaRPr lang="en-US" sz="1200" dirty="0"/>
          </a:p>
        </p:txBody>
      </p:sp>
      <p:sp>
        <p:nvSpPr>
          <p:cNvPr id="5" name="Shape 3"/>
          <p:cNvSpPr/>
          <p:nvPr/>
        </p:nvSpPr>
        <p:spPr>
          <a:xfrm>
            <a:off x="411480" y="1097280"/>
            <a:ext cx="8321040" cy="896112"/>
          </a:xfrm>
          <a:prstGeom prst="rect">
            <a:avLst/>
          </a:prstGeom>
          <a:solidFill>
            <a:srgbClr val="1A6FBF"/>
          </a:solidFill>
          <a:ln/>
        </p:spPr>
        <p:txBody>
          <a:bodyPr/>
          <a:lstStyle/>
          <a:p>
            <a:endParaRPr lang="en-IN"/>
          </a:p>
        </p:txBody>
      </p:sp>
      <p:sp>
        <p:nvSpPr>
          <p:cNvPr id="6" name="Text 4"/>
          <p:cNvSpPr/>
          <p:nvPr/>
        </p:nvSpPr>
        <p:spPr>
          <a:xfrm>
            <a:off x="594360" y="1033272"/>
            <a:ext cx="7955280" cy="84124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DevOps is the union of people, process, and technology to continuously deliver value to customers. It bridges the gap between software development and IT operations through shared ownership, automated pipelines, and a culture of continuous improvement — enabling organizations to build, test, and deploy software reliably and at speed.</a:t>
            </a:r>
            <a:endParaRPr lang="en-US" sz="1250" dirty="0"/>
          </a:p>
        </p:txBody>
      </p:sp>
      <p:sp>
        <p:nvSpPr>
          <p:cNvPr id="7" name="Shape 5"/>
          <p:cNvSpPr/>
          <p:nvPr/>
        </p:nvSpPr>
        <p:spPr>
          <a:xfrm>
            <a:off x="411480" y="2084832"/>
            <a:ext cx="1938528" cy="283464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8" name="Shape 6"/>
          <p:cNvSpPr/>
          <p:nvPr/>
        </p:nvSpPr>
        <p:spPr>
          <a:xfrm>
            <a:off x="411480" y="2084832"/>
            <a:ext cx="1938528" cy="54864"/>
          </a:xfrm>
          <a:prstGeom prst="rect">
            <a:avLst/>
          </a:prstGeom>
          <a:solidFill>
            <a:srgbClr val="2D9CDB"/>
          </a:solidFill>
          <a:ln/>
        </p:spPr>
        <p:txBody>
          <a:bodyPr/>
          <a:lstStyle/>
          <a:p>
            <a:endParaRPr lang="en-IN"/>
          </a:p>
        </p:txBody>
      </p:sp>
      <p:pic>
        <p:nvPicPr>
          <p:cNvPr id="9" name="Image 0" descr="preencoded.png"/>
          <p:cNvPicPr>
            <a:picLocks noChangeAspect="1"/>
          </p:cNvPicPr>
          <p:nvPr/>
        </p:nvPicPr>
        <p:blipFill>
          <a:blip r:embed="rId3"/>
          <a:stretch>
            <a:fillRect/>
          </a:stretch>
        </p:blipFill>
        <p:spPr>
          <a:xfrm>
            <a:off x="1014984" y="2240280"/>
            <a:ext cx="731520" cy="731520"/>
          </a:xfrm>
          <a:prstGeom prst="rect">
            <a:avLst/>
          </a:prstGeom>
        </p:spPr>
      </p:pic>
      <p:sp>
        <p:nvSpPr>
          <p:cNvPr id="10" name="Text 7"/>
          <p:cNvSpPr/>
          <p:nvPr/>
        </p:nvSpPr>
        <p:spPr>
          <a:xfrm>
            <a:off x="502920" y="3063240"/>
            <a:ext cx="1755648" cy="365760"/>
          </a:xfrm>
          <a:prstGeom prst="rect">
            <a:avLst/>
          </a:prstGeom>
          <a:noFill/>
          <a:ln/>
        </p:spPr>
        <p:txBody>
          <a:bodyPr wrap="square" lIns="0" tIns="0" rIns="0" bIns="0" rtlCol="0" anchor="ctr"/>
          <a:lstStyle/>
          <a:p>
            <a:pPr marL="0" indent="0" algn="ctr">
              <a:buNone/>
            </a:pPr>
            <a:r>
              <a:rPr lang="en-US" sz="1300" b="1" dirty="0">
                <a:solidFill>
                  <a:srgbClr val="0F4C8A"/>
                </a:solidFill>
                <a:latin typeface="Calibri" pitchFamily="34" charset="0"/>
                <a:ea typeface="Calibri" pitchFamily="34" charset="-122"/>
                <a:cs typeface="Calibri" pitchFamily="34" charset="-120"/>
              </a:rPr>
              <a:t>Culture</a:t>
            </a:r>
            <a:endParaRPr lang="en-US" sz="1300" dirty="0"/>
          </a:p>
        </p:txBody>
      </p:sp>
      <p:sp>
        <p:nvSpPr>
          <p:cNvPr id="11" name="Text 8"/>
          <p:cNvSpPr/>
          <p:nvPr/>
        </p:nvSpPr>
        <p:spPr>
          <a:xfrm>
            <a:off x="502920" y="3456432"/>
            <a:ext cx="1755648" cy="13716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Shared ownership of the entire software delivery lifecycle. Developers and Operations teams are jointly accountable for reliability.</a:t>
            </a:r>
            <a:endParaRPr lang="en-US" sz="950" dirty="0"/>
          </a:p>
        </p:txBody>
      </p:sp>
      <p:sp>
        <p:nvSpPr>
          <p:cNvPr id="12" name="Shape 9"/>
          <p:cNvSpPr/>
          <p:nvPr/>
        </p:nvSpPr>
        <p:spPr>
          <a:xfrm>
            <a:off x="2523744" y="2084832"/>
            <a:ext cx="1938528" cy="283464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3" name="Shape 10"/>
          <p:cNvSpPr/>
          <p:nvPr/>
        </p:nvSpPr>
        <p:spPr>
          <a:xfrm>
            <a:off x="2523744" y="2084832"/>
            <a:ext cx="1938528" cy="54864"/>
          </a:xfrm>
          <a:prstGeom prst="rect">
            <a:avLst/>
          </a:prstGeom>
          <a:solidFill>
            <a:srgbClr val="2D9CDB"/>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3127248" y="2240280"/>
            <a:ext cx="731520" cy="731520"/>
          </a:xfrm>
          <a:prstGeom prst="rect">
            <a:avLst/>
          </a:prstGeom>
        </p:spPr>
      </p:pic>
      <p:sp>
        <p:nvSpPr>
          <p:cNvPr id="15" name="Text 11"/>
          <p:cNvSpPr/>
          <p:nvPr/>
        </p:nvSpPr>
        <p:spPr>
          <a:xfrm>
            <a:off x="2615184" y="3063240"/>
            <a:ext cx="1755648" cy="365760"/>
          </a:xfrm>
          <a:prstGeom prst="rect">
            <a:avLst/>
          </a:prstGeom>
          <a:noFill/>
          <a:ln/>
        </p:spPr>
        <p:txBody>
          <a:bodyPr wrap="square" lIns="0" tIns="0" rIns="0" bIns="0" rtlCol="0" anchor="ctr"/>
          <a:lstStyle/>
          <a:p>
            <a:pPr marL="0" indent="0" algn="ctr">
              <a:buNone/>
            </a:pPr>
            <a:r>
              <a:rPr lang="en-US" sz="1300" b="1" dirty="0">
                <a:solidFill>
                  <a:srgbClr val="0F4C8A"/>
                </a:solidFill>
                <a:latin typeface="Calibri" pitchFamily="34" charset="0"/>
                <a:ea typeface="Calibri" pitchFamily="34" charset="-122"/>
                <a:cs typeface="Calibri" pitchFamily="34" charset="-120"/>
              </a:rPr>
              <a:t>Automation</a:t>
            </a:r>
            <a:endParaRPr lang="en-US" sz="1300" dirty="0"/>
          </a:p>
        </p:txBody>
      </p:sp>
      <p:sp>
        <p:nvSpPr>
          <p:cNvPr id="16" name="Text 12"/>
          <p:cNvSpPr/>
          <p:nvPr/>
        </p:nvSpPr>
        <p:spPr>
          <a:xfrm>
            <a:off x="2615184" y="3456432"/>
            <a:ext cx="1755648" cy="13716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Repetitive tasks — building, testing, deploying — are automated through CI/CD pipelines, eliminating human error and reducing cycle time.</a:t>
            </a:r>
            <a:endParaRPr lang="en-US" sz="950" dirty="0"/>
          </a:p>
        </p:txBody>
      </p:sp>
      <p:sp>
        <p:nvSpPr>
          <p:cNvPr id="17" name="Shape 13"/>
          <p:cNvSpPr/>
          <p:nvPr/>
        </p:nvSpPr>
        <p:spPr>
          <a:xfrm>
            <a:off x="4636008" y="2084832"/>
            <a:ext cx="1938528" cy="283464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8" name="Shape 14"/>
          <p:cNvSpPr/>
          <p:nvPr/>
        </p:nvSpPr>
        <p:spPr>
          <a:xfrm>
            <a:off x="4636008" y="2084832"/>
            <a:ext cx="1938528" cy="54864"/>
          </a:xfrm>
          <a:prstGeom prst="rect">
            <a:avLst/>
          </a:prstGeom>
          <a:solidFill>
            <a:srgbClr val="2D9CDB"/>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5239512" y="2240280"/>
            <a:ext cx="731520" cy="731520"/>
          </a:xfrm>
          <a:prstGeom prst="rect">
            <a:avLst/>
          </a:prstGeom>
        </p:spPr>
      </p:pic>
      <p:sp>
        <p:nvSpPr>
          <p:cNvPr id="20" name="Text 15"/>
          <p:cNvSpPr/>
          <p:nvPr/>
        </p:nvSpPr>
        <p:spPr>
          <a:xfrm>
            <a:off x="4727448" y="3063240"/>
            <a:ext cx="1755648" cy="365760"/>
          </a:xfrm>
          <a:prstGeom prst="rect">
            <a:avLst/>
          </a:prstGeom>
          <a:noFill/>
          <a:ln/>
        </p:spPr>
        <p:txBody>
          <a:bodyPr wrap="square" lIns="0" tIns="0" rIns="0" bIns="0" rtlCol="0" anchor="ctr"/>
          <a:lstStyle/>
          <a:p>
            <a:pPr marL="0" indent="0" algn="ctr">
              <a:buNone/>
            </a:pPr>
            <a:r>
              <a:rPr lang="en-US" sz="1300" b="1" dirty="0">
                <a:solidFill>
                  <a:srgbClr val="0F4C8A"/>
                </a:solidFill>
                <a:latin typeface="Calibri" pitchFamily="34" charset="0"/>
                <a:ea typeface="Calibri" pitchFamily="34" charset="-122"/>
                <a:cs typeface="Calibri" pitchFamily="34" charset="-120"/>
              </a:rPr>
              <a:t>Measurement</a:t>
            </a:r>
            <a:endParaRPr lang="en-US" sz="1300" dirty="0"/>
          </a:p>
        </p:txBody>
      </p:sp>
      <p:sp>
        <p:nvSpPr>
          <p:cNvPr id="21" name="Text 16"/>
          <p:cNvSpPr/>
          <p:nvPr/>
        </p:nvSpPr>
        <p:spPr>
          <a:xfrm>
            <a:off x="4727448" y="3456432"/>
            <a:ext cx="1755648" cy="13716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Every decision is informed by data. Teams track deployment frequency, lead time, failure rate, and recovery time as core performance indicators.</a:t>
            </a:r>
            <a:endParaRPr lang="en-US" sz="950" dirty="0"/>
          </a:p>
        </p:txBody>
      </p:sp>
      <p:sp>
        <p:nvSpPr>
          <p:cNvPr id="22" name="Shape 17"/>
          <p:cNvSpPr/>
          <p:nvPr/>
        </p:nvSpPr>
        <p:spPr>
          <a:xfrm>
            <a:off x="6748272" y="2084832"/>
            <a:ext cx="1938528" cy="283464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3" name="Shape 18"/>
          <p:cNvSpPr/>
          <p:nvPr/>
        </p:nvSpPr>
        <p:spPr>
          <a:xfrm>
            <a:off x="6748272" y="2084832"/>
            <a:ext cx="1938528" cy="54864"/>
          </a:xfrm>
          <a:prstGeom prst="rect">
            <a:avLst/>
          </a:prstGeom>
          <a:solidFill>
            <a:srgbClr val="2D9CDB"/>
          </a:solidFill>
          <a:ln/>
        </p:spPr>
        <p:txBody>
          <a:bodyPr/>
          <a:lstStyle/>
          <a:p>
            <a:endParaRPr lang="en-IN"/>
          </a:p>
        </p:txBody>
      </p:sp>
      <p:pic>
        <p:nvPicPr>
          <p:cNvPr id="24" name="Image 3" descr="preencoded.png"/>
          <p:cNvPicPr>
            <a:picLocks noChangeAspect="1"/>
          </p:cNvPicPr>
          <p:nvPr/>
        </p:nvPicPr>
        <p:blipFill>
          <a:blip r:embed="rId6"/>
          <a:stretch>
            <a:fillRect/>
          </a:stretch>
        </p:blipFill>
        <p:spPr>
          <a:xfrm>
            <a:off x="7351776" y="2240280"/>
            <a:ext cx="731520" cy="731520"/>
          </a:xfrm>
          <a:prstGeom prst="rect">
            <a:avLst/>
          </a:prstGeom>
        </p:spPr>
      </p:pic>
      <p:sp>
        <p:nvSpPr>
          <p:cNvPr id="25" name="Text 19"/>
          <p:cNvSpPr/>
          <p:nvPr/>
        </p:nvSpPr>
        <p:spPr>
          <a:xfrm>
            <a:off x="6839712" y="3063240"/>
            <a:ext cx="1755648" cy="365760"/>
          </a:xfrm>
          <a:prstGeom prst="rect">
            <a:avLst/>
          </a:prstGeom>
          <a:noFill/>
          <a:ln/>
        </p:spPr>
        <p:txBody>
          <a:bodyPr wrap="square" lIns="0" tIns="0" rIns="0" bIns="0" rtlCol="0" anchor="ctr"/>
          <a:lstStyle/>
          <a:p>
            <a:pPr marL="0" indent="0" algn="ctr">
              <a:buNone/>
            </a:pPr>
            <a:r>
              <a:rPr lang="en-US" sz="1300" b="1" dirty="0">
                <a:solidFill>
                  <a:srgbClr val="0F4C8A"/>
                </a:solidFill>
                <a:latin typeface="Calibri" pitchFamily="34" charset="0"/>
                <a:ea typeface="Calibri" pitchFamily="34" charset="-122"/>
                <a:cs typeface="Calibri" pitchFamily="34" charset="-120"/>
              </a:rPr>
              <a:t>Sharing</a:t>
            </a:r>
            <a:endParaRPr lang="en-US" sz="1300" dirty="0"/>
          </a:p>
        </p:txBody>
      </p:sp>
      <p:sp>
        <p:nvSpPr>
          <p:cNvPr id="26" name="Text 20"/>
          <p:cNvSpPr/>
          <p:nvPr/>
        </p:nvSpPr>
        <p:spPr>
          <a:xfrm>
            <a:off x="6839712" y="3456432"/>
            <a:ext cx="1755648" cy="1371600"/>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Knowledge, tooling, and post-incident learnings are shared openly across teams, creating a continuously improving system rather than isolated expertise.</a:t>
            </a:r>
            <a:endParaRPr lang="en-US" sz="950" dirty="0"/>
          </a:p>
        </p:txBody>
      </p:sp>
      <p:sp>
        <p:nvSpPr>
          <p:cNvPr id="27" name="Text 21"/>
          <p:cNvSpPr/>
          <p:nvPr/>
        </p:nvSpPr>
        <p:spPr>
          <a:xfrm>
            <a:off x="411480" y="4927209"/>
            <a:ext cx="8321040" cy="256032"/>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DevOps is not a role you hire for - it is a way of working that entire engineering organizations adopt.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DevOps Core Principles</a:t>
            </a:r>
            <a:endParaRPr lang="en-US" sz="2600" dirty="0"/>
          </a:p>
        </p:txBody>
      </p:sp>
      <p:sp>
        <p:nvSpPr>
          <p:cNvPr id="4" name="Text 2"/>
          <p:cNvSpPr/>
          <p:nvPr/>
        </p:nvSpPr>
        <p:spPr>
          <a:xfrm>
            <a:off x="411480" y="755435"/>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five practices that separate high-performing DevOps teams from the rest</a:t>
            </a:r>
            <a:endParaRPr lang="en-US" sz="1200" dirty="0"/>
          </a:p>
        </p:txBody>
      </p:sp>
      <p:sp>
        <p:nvSpPr>
          <p:cNvPr id="5" name="Shape 3"/>
          <p:cNvSpPr/>
          <p:nvPr/>
        </p:nvSpPr>
        <p:spPr>
          <a:xfrm>
            <a:off x="411480" y="1051560"/>
            <a:ext cx="8321040" cy="7132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6" name="Shape 4"/>
          <p:cNvSpPr/>
          <p:nvPr/>
        </p:nvSpPr>
        <p:spPr>
          <a:xfrm>
            <a:off x="411480" y="1051560"/>
            <a:ext cx="713232" cy="713232"/>
          </a:xfrm>
          <a:prstGeom prst="rect">
            <a:avLst/>
          </a:prstGeom>
          <a:solidFill>
            <a:srgbClr val="1A6FBF"/>
          </a:solidFill>
          <a:ln/>
        </p:spPr>
        <p:txBody>
          <a:bodyPr/>
          <a:lstStyle/>
          <a:p>
            <a:endParaRPr lang="en-IN"/>
          </a:p>
        </p:txBody>
      </p:sp>
      <p:sp>
        <p:nvSpPr>
          <p:cNvPr id="7" name="Text 5"/>
          <p:cNvSpPr/>
          <p:nvPr/>
        </p:nvSpPr>
        <p:spPr>
          <a:xfrm>
            <a:off x="411480" y="1234440"/>
            <a:ext cx="71323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1234440" y="1124712"/>
            <a:ext cx="2926080" cy="292608"/>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Continuous Integration</a:t>
            </a:r>
            <a:endParaRPr lang="en-US" sz="1300" dirty="0"/>
          </a:p>
        </p:txBody>
      </p:sp>
      <p:sp>
        <p:nvSpPr>
          <p:cNvPr id="9" name="Text 7"/>
          <p:cNvSpPr/>
          <p:nvPr/>
        </p:nvSpPr>
        <p:spPr>
          <a:xfrm>
            <a:off x="1234440" y="1417320"/>
            <a:ext cx="73152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Every code commit triggers an automated build and test sequence. Integration problems are caught within minutes rather than discovered weeks later during a merge conflict crisis.</a:t>
            </a:r>
            <a:endParaRPr lang="en-US" sz="1050" dirty="0"/>
          </a:p>
        </p:txBody>
      </p:sp>
      <p:sp>
        <p:nvSpPr>
          <p:cNvPr id="10" name="Shape 8"/>
          <p:cNvSpPr/>
          <p:nvPr/>
        </p:nvSpPr>
        <p:spPr>
          <a:xfrm>
            <a:off x="411480" y="1833372"/>
            <a:ext cx="8321040" cy="7132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1" name="Shape 9"/>
          <p:cNvSpPr/>
          <p:nvPr/>
        </p:nvSpPr>
        <p:spPr>
          <a:xfrm>
            <a:off x="411480" y="1833372"/>
            <a:ext cx="713232" cy="713232"/>
          </a:xfrm>
          <a:prstGeom prst="rect">
            <a:avLst/>
          </a:prstGeom>
          <a:solidFill>
            <a:srgbClr val="1A7FA0"/>
          </a:solidFill>
          <a:ln/>
        </p:spPr>
        <p:txBody>
          <a:bodyPr/>
          <a:lstStyle/>
          <a:p>
            <a:endParaRPr lang="en-IN"/>
          </a:p>
        </p:txBody>
      </p:sp>
      <p:sp>
        <p:nvSpPr>
          <p:cNvPr id="12" name="Text 10"/>
          <p:cNvSpPr/>
          <p:nvPr/>
        </p:nvSpPr>
        <p:spPr>
          <a:xfrm>
            <a:off x="411480" y="2016252"/>
            <a:ext cx="71323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1234440" y="1906524"/>
            <a:ext cx="2926080" cy="292608"/>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Continuous Delivery</a:t>
            </a:r>
            <a:endParaRPr lang="en-US" sz="1300" dirty="0"/>
          </a:p>
        </p:txBody>
      </p:sp>
      <p:sp>
        <p:nvSpPr>
          <p:cNvPr id="14" name="Text 12"/>
          <p:cNvSpPr/>
          <p:nvPr/>
        </p:nvSpPr>
        <p:spPr>
          <a:xfrm>
            <a:off x="1234440" y="2199132"/>
            <a:ext cx="73152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Software is always in a deployable state. The pipeline ensures every change that passes automated tests can be released to production at any time, with a single command.</a:t>
            </a:r>
            <a:endParaRPr lang="en-US" sz="1050" dirty="0"/>
          </a:p>
        </p:txBody>
      </p:sp>
      <p:sp>
        <p:nvSpPr>
          <p:cNvPr id="15" name="Shape 13"/>
          <p:cNvSpPr/>
          <p:nvPr/>
        </p:nvSpPr>
        <p:spPr>
          <a:xfrm>
            <a:off x="411480" y="2615184"/>
            <a:ext cx="8321040" cy="7132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6" name="Shape 14"/>
          <p:cNvSpPr/>
          <p:nvPr/>
        </p:nvSpPr>
        <p:spPr>
          <a:xfrm>
            <a:off x="411480" y="2615184"/>
            <a:ext cx="713232" cy="713232"/>
          </a:xfrm>
          <a:prstGeom prst="rect">
            <a:avLst/>
          </a:prstGeom>
          <a:solidFill>
            <a:srgbClr val="2D9CDB"/>
          </a:solidFill>
          <a:ln/>
        </p:spPr>
        <p:txBody>
          <a:bodyPr/>
          <a:lstStyle/>
          <a:p>
            <a:endParaRPr lang="en-IN"/>
          </a:p>
        </p:txBody>
      </p:sp>
      <p:sp>
        <p:nvSpPr>
          <p:cNvPr id="17" name="Text 15"/>
          <p:cNvSpPr/>
          <p:nvPr/>
        </p:nvSpPr>
        <p:spPr>
          <a:xfrm>
            <a:off x="411480" y="2798064"/>
            <a:ext cx="71323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8" name="Text 16"/>
          <p:cNvSpPr/>
          <p:nvPr/>
        </p:nvSpPr>
        <p:spPr>
          <a:xfrm>
            <a:off x="1234440" y="2688336"/>
            <a:ext cx="2926080" cy="292608"/>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Infrastructure as Code</a:t>
            </a:r>
            <a:endParaRPr lang="en-US" sz="1300" dirty="0"/>
          </a:p>
        </p:txBody>
      </p:sp>
      <p:sp>
        <p:nvSpPr>
          <p:cNvPr id="19" name="Text 17"/>
          <p:cNvSpPr/>
          <p:nvPr/>
        </p:nvSpPr>
        <p:spPr>
          <a:xfrm>
            <a:off x="1234440" y="2980944"/>
            <a:ext cx="73152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Servers, networks, and environments are defined in version-controlled configuration files. Any environment can be reproduced exactly, eliminating the 'works on my machine' problem permanently.</a:t>
            </a:r>
            <a:endParaRPr lang="en-US" sz="1050" dirty="0"/>
          </a:p>
        </p:txBody>
      </p:sp>
      <p:sp>
        <p:nvSpPr>
          <p:cNvPr id="20" name="Shape 18"/>
          <p:cNvSpPr/>
          <p:nvPr/>
        </p:nvSpPr>
        <p:spPr>
          <a:xfrm>
            <a:off x="411480" y="3396996"/>
            <a:ext cx="8321040" cy="7132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1" name="Shape 19"/>
          <p:cNvSpPr/>
          <p:nvPr/>
        </p:nvSpPr>
        <p:spPr>
          <a:xfrm>
            <a:off x="411480" y="3396996"/>
            <a:ext cx="713232" cy="713232"/>
          </a:xfrm>
          <a:prstGeom prst="rect">
            <a:avLst/>
          </a:prstGeom>
          <a:solidFill>
            <a:srgbClr val="1685B5"/>
          </a:solidFill>
          <a:ln/>
        </p:spPr>
        <p:txBody>
          <a:bodyPr/>
          <a:lstStyle/>
          <a:p>
            <a:endParaRPr lang="en-IN"/>
          </a:p>
        </p:txBody>
      </p:sp>
      <p:sp>
        <p:nvSpPr>
          <p:cNvPr id="22" name="Text 20"/>
          <p:cNvSpPr/>
          <p:nvPr/>
        </p:nvSpPr>
        <p:spPr>
          <a:xfrm>
            <a:off x="411480" y="3579876"/>
            <a:ext cx="71323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3" name="Text 21"/>
          <p:cNvSpPr/>
          <p:nvPr/>
        </p:nvSpPr>
        <p:spPr>
          <a:xfrm>
            <a:off x="1234440" y="3470148"/>
            <a:ext cx="2926080" cy="292608"/>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Monitoring and Observability</a:t>
            </a:r>
            <a:endParaRPr lang="en-US" sz="1300" dirty="0"/>
          </a:p>
        </p:txBody>
      </p:sp>
      <p:sp>
        <p:nvSpPr>
          <p:cNvPr id="24" name="Text 22"/>
          <p:cNvSpPr/>
          <p:nvPr/>
        </p:nvSpPr>
        <p:spPr>
          <a:xfrm>
            <a:off x="1234440" y="3762756"/>
            <a:ext cx="73152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Every deployed system emits metrics, logs, and traces. Teams detect and understand production failures before users report them, and use data to drive improvement decisions.</a:t>
            </a:r>
            <a:endParaRPr lang="en-US" sz="1050" dirty="0"/>
          </a:p>
        </p:txBody>
      </p:sp>
      <p:sp>
        <p:nvSpPr>
          <p:cNvPr id="25" name="Shape 23"/>
          <p:cNvSpPr/>
          <p:nvPr/>
        </p:nvSpPr>
        <p:spPr>
          <a:xfrm>
            <a:off x="411480" y="4178808"/>
            <a:ext cx="8321040" cy="7132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6" name="Shape 24"/>
          <p:cNvSpPr/>
          <p:nvPr/>
        </p:nvSpPr>
        <p:spPr>
          <a:xfrm>
            <a:off x="411480" y="4178808"/>
            <a:ext cx="713232" cy="713232"/>
          </a:xfrm>
          <a:prstGeom prst="rect">
            <a:avLst/>
          </a:prstGeom>
          <a:solidFill>
            <a:srgbClr val="0F4C8A"/>
          </a:solidFill>
          <a:ln/>
        </p:spPr>
        <p:txBody>
          <a:bodyPr/>
          <a:lstStyle/>
          <a:p>
            <a:endParaRPr lang="en-IN"/>
          </a:p>
        </p:txBody>
      </p:sp>
      <p:sp>
        <p:nvSpPr>
          <p:cNvPr id="27" name="Text 25"/>
          <p:cNvSpPr/>
          <p:nvPr/>
        </p:nvSpPr>
        <p:spPr>
          <a:xfrm>
            <a:off x="411480" y="4361688"/>
            <a:ext cx="713232"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28" name="Text 26"/>
          <p:cNvSpPr/>
          <p:nvPr/>
        </p:nvSpPr>
        <p:spPr>
          <a:xfrm>
            <a:off x="1234440" y="4251960"/>
            <a:ext cx="2926080" cy="292608"/>
          </a:xfrm>
          <a:prstGeom prst="rect">
            <a:avLst/>
          </a:prstGeom>
          <a:noFill/>
          <a:ln/>
        </p:spPr>
        <p:txBody>
          <a:bodyPr wrap="square" lIns="0" tIns="0" rIns="0" bIns="0" rtlCol="0" anchor="ctr"/>
          <a:lstStyle/>
          <a:p>
            <a:pPr marL="0" indent="0">
              <a:buNone/>
            </a:pPr>
            <a:r>
              <a:rPr lang="en-US" sz="1300" b="1" dirty="0">
                <a:solidFill>
                  <a:srgbClr val="0F4C8A"/>
                </a:solidFill>
                <a:latin typeface="Calibri" pitchFamily="34" charset="0"/>
                <a:ea typeface="Calibri" pitchFamily="34" charset="-122"/>
                <a:cs typeface="Calibri" pitchFamily="34" charset="-120"/>
              </a:rPr>
              <a:t>Feedback Loops</a:t>
            </a:r>
            <a:endParaRPr lang="en-US" sz="1300" dirty="0"/>
          </a:p>
        </p:txBody>
      </p:sp>
      <p:sp>
        <p:nvSpPr>
          <p:cNvPr id="29" name="Text 27"/>
          <p:cNvSpPr/>
          <p:nvPr/>
        </p:nvSpPr>
        <p:spPr>
          <a:xfrm>
            <a:off x="1234440" y="4544568"/>
            <a:ext cx="73152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Insights from production monitoring feed directly back into the planning process. Each iteration incorporates what was learned in production, creating a continuously improving system.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Traditional vs DevOps — Key Contrasts</a:t>
            </a:r>
            <a:endParaRPr lang="en-US" sz="2600" dirty="0"/>
          </a:p>
        </p:txBody>
      </p:sp>
      <p:sp>
        <p:nvSpPr>
          <p:cNvPr id="4" name="Text 2"/>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Four dimensions where DevOps fundamentally changes how software is delivered</a:t>
            </a:r>
            <a:endParaRPr lang="en-US" sz="1200" dirty="0"/>
          </a:p>
        </p:txBody>
      </p:sp>
      <p:pic>
        <p:nvPicPr>
          <p:cNvPr id="5" name="Image 0" descr="/home/claude/img_comparison.png"/>
          <p:cNvPicPr>
            <a:picLocks noChangeAspect="1"/>
          </p:cNvPicPr>
          <p:nvPr/>
        </p:nvPicPr>
        <p:blipFill>
          <a:blip r:embed="rId3"/>
          <a:srcRect/>
          <a:stretch/>
        </p:blipFill>
        <p:spPr>
          <a:xfrm>
            <a:off x="457200" y="1097280"/>
            <a:ext cx="5303520" cy="3657600"/>
          </a:xfrm>
          <a:prstGeom prst="rect">
            <a:avLst/>
          </a:prstGeom>
        </p:spPr>
      </p:pic>
      <p:sp>
        <p:nvSpPr>
          <p:cNvPr id="6" name="Shape 3"/>
          <p:cNvSpPr/>
          <p:nvPr/>
        </p:nvSpPr>
        <p:spPr>
          <a:xfrm>
            <a:off x="5989320" y="1097280"/>
            <a:ext cx="2788920" cy="8229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7" name="Text 4"/>
          <p:cNvSpPr/>
          <p:nvPr/>
        </p:nvSpPr>
        <p:spPr>
          <a:xfrm>
            <a:off x="6126480" y="1161288"/>
            <a:ext cx="2560320" cy="25603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Team Structure</a:t>
            </a:r>
            <a:endParaRPr lang="en-US" sz="1200" dirty="0"/>
          </a:p>
        </p:txBody>
      </p:sp>
      <p:sp>
        <p:nvSpPr>
          <p:cNvPr id="8" name="Text 5"/>
          <p:cNvSpPr/>
          <p:nvPr/>
        </p:nvSpPr>
        <p:spPr>
          <a:xfrm>
            <a:off x="6126480" y="1426464"/>
            <a:ext cx="2560320" cy="43891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Siloed teams optimize for their own goals. Collaborative teams own outcomes together — if production breaks at 2am, both Dev and Ops fix it together.</a:t>
            </a:r>
            <a:endParaRPr lang="en-US" sz="950" dirty="0"/>
          </a:p>
        </p:txBody>
      </p:sp>
      <p:sp>
        <p:nvSpPr>
          <p:cNvPr id="9" name="Shape 6"/>
          <p:cNvSpPr/>
          <p:nvPr/>
        </p:nvSpPr>
        <p:spPr>
          <a:xfrm>
            <a:off x="5989320" y="2020824"/>
            <a:ext cx="2788920" cy="8229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0" name="Text 7"/>
          <p:cNvSpPr/>
          <p:nvPr/>
        </p:nvSpPr>
        <p:spPr>
          <a:xfrm>
            <a:off x="6126480" y="2084832"/>
            <a:ext cx="2560320" cy="25603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Delivery Speed</a:t>
            </a:r>
            <a:endParaRPr lang="en-US" sz="1200" dirty="0"/>
          </a:p>
        </p:txBody>
      </p:sp>
      <p:sp>
        <p:nvSpPr>
          <p:cNvPr id="11" name="Text 8"/>
          <p:cNvSpPr/>
          <p:nvPr/>
        </p:nvSpPr>
        <p:spPr>
          <a:xfrm>
            <a:off x="6126480" y="2350008"/>
            <a:ext cx="2560320" cy="43891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Waterfall delivers in months; Agile in weeks; DevOps in hours. Each acceleration was enabled by removing a manual handoff from the process.</a:t>
            </a:r>
            <a:endParaRPr lang="en-US" sz="950" dirty="0"/>
          </a:p>
        </p:txBody>
      </p:sp>
      <p:sp>
        <p:nvSpPr>
          <p:cNvPr id="12" name="Shape 9"/>
          <p:cNvSpPr/>
          <p:nvPr/>
        </p:nvSpPr>
        <p:spPr>
          <a:xfrm>
            <a:off x="5989320" y="2944368"/>
            <a:ext cx="2788920" cy="82296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3" name="Text 10"/>
          <p:cNvSpPr/>
          <p:nvPr/>
        </p:nvSpPr>
        <p:spPr>
          <a:xfrm>
            <a:off x="6126480" y="3008376"/>
            <a:ext cx="2560320" cy="25603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Quality</a:t>
            </a:r>
            <a:endParaRPr lang="en-US" sz="1200" dirty="0"/>
          </a:p>
        </p:txBody>
      </p:sp>
      <p:sp>
        <p:nvSpPr>
          <p:cNvPr id="14" name="Text 11"/>
          <p:cNvSpPr/>
          <p:nvPr/>
        </p:nvSpPr>
        <p:spPr>
          <a:xfrm>
            <a:off x="6126480" y="3273552"/>
            <a:ext cx="2560320" cy="43891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Late testing finds bugs expensively. Continuous testing catches defects at the point of introduction — when context is fresh and the fix is cheap.</a:t>
            </a:r>
            <a:endParaRPr lang="en-US" sz="950" dirty="0"/>
          </a:p>
        </p:txBody>
      </p:sp>
      <p:sp>
        <p:nvSpPr>
          <p:cNvPr id="15" name="Shape 12"/>
          <p:cNvSpPr/>
          <p:nvPr/>
        </p:nvSpPr>
        <p:spPr>
          <a:xfrm>
            <a:off x="5989320" y="3867912"/>
            <a:ext cx="2788920" cy="886968"/>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6" name="Text 13"/>
          <p:cNvSpPr/>
          <p:nvPr/>
        </p:nvSpPr>
        <p:spPr>
          <a:xfrm>
            <a:off x="6126480" y="3931920"/>
            <a:ext cx="2560320" cy="25603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Automation</a:t>
            </a:r>
            <a:endParaRPr lang="en-US" sz="1200" dirty="0"/>
          </a:p>
        </p:txBody>
      </p:sp>
      <p:sp>
        <p:nvSpPr>
          <p:cNvPr id="17" name="Text 14"/>
          <p:cNvSpPr/>
          <p:nvPr/>
        </p:nvSpPr>
        <p:spPr>
          <a:xfrm>
            <a:off x="6126480" y="4197096"/>
            <a:ext cx="2560320" cy="43891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Manual processes scale linearly with team size. Automated pipelines scale infinitely. One engineer can ship to a million users with the same pipeline as ten users.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Comparison at a Glance</a:t>
            </a:r>
            <a:endParaRPr lang="en-US" sz="2600" dirty="0"/>
          </a:p>
        </p:txBody>
      </p:sp>
      <p:sp>
        <p:nvSpPr>
          <p:cNvPr id="4" name="Text 2"/>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Six dimensions that illustrate why DevOps replaced traditional approaches in high-performing teams</a:t>
            </a:r>
            <a:endParaRPr lang="en-US" sz="1200" dirty="0"/>
          </a:p>
        </p:txBody>
      </p:sp>
      <p:sp>
        <p:nvSpPr>
          <p:cNvPr id="5" name="Shape 3"/>
          <p:cNvSpPr/>
          <p:nvPr/>
        </p:nvSpPr>
        <p:spPr>
          <a:xfrm>
            <a:off x="411480" y="1005840"/>
            <a:ext cx="2194560" cy="530352"/>
          </a:xfrm>
          <a:prstGeom prst="rect">
            <a:avLst/>
          </a:prstGeom>
          <a:solidFill>
            <a:srgbClr val="1A6FBF"/>
          </a:solidFill>
          <a:ln w="6350">
            <a:solidFill>
              <a:srgbClr val="D1E3F3"/>
            </a:solidFill>
            <a:prstDash val="solid"/>
          </a:ln>
        </p:spPr>
        <p:txBody>
          <a:bodyPr/>
          <a:lstStyle/>
          <a:p>
            <a:endParaRPr lang="en-IN"/>
          </a:p>
        </p:txBody>
      </p:sp>
      <p:sp>
        <p:nvSpPr>
          <p:cNvPr id="6" name="Text 4"/>
          <p:cNvSpPr/>
          <p:nvPr/>
        </p:nvSpPr>
        <p:spPr>
          <a:xfrm>
            <a:off x="502920" y="1078992"/>
            <a:ext cx="201168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p>
        </p:txBody>
      </p:sp>
      <p:sp>
        <p:nvSpPr>
          <p:cNvPr id="7" name="Shape 5"/>
          <p:cNvSpPr/>
          <p:nvPr/>
        </p:nvSpPr>
        <p:spPr>
          <a:xfrm>
            <a:off x="2651760" y="1005840"/>
            <a:ext cx="3063240" cy="530352"/>
          </a:xfrm>
          <a:prstGeom prst="rect">
            <a:avLst/>
          </a:prstGeom>
          <a:solidFill>
            <a:srgbClr val="1A6FBF"/>
          </a:solidFill>
          <a:ln w="6350">
            <a:solidFill>
              <a:srgbClr val="D1E3F3"/>
            </a:solidFill>
            <a:prstDash val="solid"/>
          </a:ln>
        </p:spPr>
        <p:txBody>
          <a:bodyPr/>
          <a:lstStyle/>
          <a:p>
            <a:endParaRPr lang="en-IN"/>
          </a:p>
        </p:txBody>
      </p:sp>
      <p:sp>
        <p:nvSpPr>
          <p:cNvPr id="8" name="Text 6"/>
          <p:cNvSpPr/>
          <p:nvPr/>
        </p:nvSpPr>
        <p:spPr>
          <a:xfrm>
            <a:off x="2743200" y="1078992"/>
            <a:ext cx="288036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Traditional Development</a:t>
            </a:r>
            <a:endParaRPr lang="en-US" sz="1200" dirty="0"/>
          </a:p>
        </p:txBody>
      </p:sp>
      <p:sp>
        <p:nvSpPr>
          <p:cNvPr id="9" name="Shape 7"/>
          <p:cNvSpPr/>
          <p:nvPr/>
        </p:nvSpPr>
        <p:spPr>
          <a:xfrm>
            <a:off x="5760720" y="1005840"/>
            <a:ext cx="2971800" cy="530352"/>
          </a:xfrm>
          <a:prstGeom prst="rect">
            <a:avLst/>
          </a:prstGeom>
          <a:solidFill>
            <a:srgbClr val="1A6FBF"/>
          </a:solidFill>
          <a:ln w="6350">
            <a:solidFill>
              <a:srgbClr val="D1E3F3"/>
            </a:solidFill>
            <a:prstDash val="solid"/>
          </a:ln>
        </p:spPr>
        <p:txBody>
          <a:bodyPr/>
          <a:lstStyle/>
          <a:p>
            <a:endParaRPr lang="en-IN"/>
          </a:p>
        </p:txBody>
      </p:sp>
      <p:sp>
        <p:nvSpPr>
          <p:cNvPr id="10" name="Text 8"/>
          <p:cNvSpPr/>
          <p:nvPr/>
        </p:nvSpPr>
        <p:spPr>
          <a:xfrm>
            <a:off x="5852160" y="1078992"/>
            <a:ext cx="278892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DevOps</a:t>
            </a:r>
            <a:endParaRPr lang="en-US" sz="1200" dirty="0"/>
          </a:p>
        </p:txBody>
      </p:sp>
      <p:sp>
        <p:nvSpPr>
          <p:cNvPr id="11" name="Shape 9"/>
          <p:cNvSpPr/>
          <p:nvPr/>
        </p:nvSpPr>
        <p:spPr>
          <a:xfrm>
            <a:off x="411480" y="1581912"/>
            <a:ext cx="2194560" cy="530352"/>
          </a:xfrm>
          <a:prstGeom prst="rect">
            <a:avLst/>
          </a:prstGeom>
          <a:solidFill>
            <a:srgbClr val="EEF4FB"/>
          </a:solidFill>
          <a:ln w="6350">
            <a:solidFill>
              <a:srgbClr val="D1E3F3"/>
            </a:solidFill>
            <a:prstDash val="solid"/>
          </a:ln>
        </p:spPr>
        <p:txBody>
          <a:bodyPr/>
          <a:lstStyle/>
          <a:p>
            <a:endParaRPr lang="en-IN"/>
          </a:p>
        </p:txBody>
      </p:sp>
      <p:sp>
        <p:nvSpPr>
          <p:cNvPr id="12" name="Text 10"/>
          <p:cNvSpPr/>
          <p:nvPr/>
        </p:nvSpPr>
        <p:spPr>
          <a:xfrm>
            <a:off x="502920" y="1655064"/>
            <a:ext cx="201168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Team Structure</a:t>
            </a:r>
            <a:endParaRPr lang="en-US" sz="1050" dirty="0"/>
          </a:p>
        </p:txBody>
      </p:sp>
      <p:sp>
        <p:nvSpPr>
          <p:cNvPr id="13" name="Shape 11"/>
          <p:cNvSpPr/>
          <p:nvPr/>
        </p:nvSpPr>
        <p:spPr>
          <a:xfrm>
            <a:off x="2651760" y="1581912"/>
            <a:ext cx="3063240" cy="530352"/>
          </a:xfrm>
          <a:prstGeom prst="rect">
            <a:avLst/>
          </a:prstGeom>
          <a:solidFill>
            <a:srgbClr val="EEF4FB"/>
          </a:solidFill>
          <a:ln w="6350">
            <a:solidFill>
              <a:srgbClr val="D1E3F3"/>
            </a:solidFill>
            <a:prstDash val="solid"/>
          </a:ln>
        </p:spPr>
        <p:txBody>
          <a:bodyPr/>
          <a:lstStyle/>
          <a:p>
            <a:endParaRPr lang="en-IN"/>
          </a:p>
        </p:txBody>
      </p:sp>
      <p:sp>
        <p:nvSpPr>
          <p:cNvPr id="14" name="Shape 12"/>
          <p:cNvSpPr/>
          <p:nvPr/>
        </p:nvSpPr>
        <p:spPr>
          <a:xfrm>
            <a:off x="2651760" y="1581912"/>
            <a:ext cx="54864" cy="530352"/>
          </a:xfrm>
          <a:prstGeom prst="rect">
            <a:avLst/>
          </a:prstGeom>
          <a:solidFill>
            <a:srgbClr val="C0392B"/>
          </a:solidFill>
          <a:ln/>
        </p:spPr>
        <p:txBody>
          <a:bodyPr/>
          <a:lstStyle/>
          <a:p>
            <a:endParaRPr lang="en-IN"/>
          </a:p>
        </p:txBody>
      </p:sp>
      <p:sp>
        <p:nvSpPr>
          <p:cNvPr id="15" name="Text 13"/>
          <p:cNvSpPr/>
          <p:nvPr/>
        </p:nvSpPr>
        <p:spPr>
          <a:xfrm>
            <a:off x="2788920" y="1655064"/>
            <a:ext cx="288036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Dev and Ops as separate departments</a:t>
            </a:r>
            <a:endParaRPr lang="en-US" sz="1050" dirty="0"/>
          </a:p>
        </p:txBody>
      </p:sp>
      <p:sp>
        <p:nvSpPr>
          <p:cNvPr id="16" name="Shape 14"/>
          <p:cNvSpPr/>
          <p:nvPr/>
        </p:nvSpPr>
        <p:spPr>
          <a:xfrm>
            <a:off x="5760720" y="1581912"/>
            <a:ext cx="2971800" cy="530352"/>
          </a:xfrm>
          <a:prstGeom prst="rect">
            <a:avLst/>
          </a:prstGeom>
          <a:solidFill>
            <a:srgbClr val="EEF4FB"/>
          </a:solidFill>
          <a:ln w="6350">
            <a:solidFill>
              <a:srgbClr val="D1E3F3"/>
            </a:solidFill>
            <a:prstDash val="solid"/>
          </a:ln>
        </p:spPr>
        <p:txBody>
          <a:bodyPr/>
          <a:lstStyle/>
          <a:p>
            <a:endParaRPr lang="en-IN"/>
          </a:p>
        </p:txBody>
      </p:sp>
      <p:sp>
        <p:nvSpPr>
          <p:cNvPr id="17" name="Shape 15"/>
          <p:cNvSpPr/>
          <p:nvPr/>
        </p:nvSpPr>
        <p:spPr>
          <a:xfrm>
            <a:off x="5760720" y="1581912"/>
            <a:ext cx="54864" cy="530352"/>
          </a:xfrm>
          <a:prstGeom prst="rect">
            <a:avLst/>
          </a:prstGeom>
          <a:solidFill>
            <a:srgbClr val="27AE60"/>
          </a:solidFill>
          <a:ln/>
        </p:spPr>
        <p:txBody>
          <a:bodyPr/>
          <a:lstStyle/>
          <a:p>
            <a:endParaRPr lang="en-IN"/>
          </a:p>
        </p:txBody>
      </p:sp>
      <p:sp>
        <p:nvSpPr>
          <p:cNvPr id="18" name="Text 16"/>
          <p:cNvSpPr/>
          <p:nvPr/>
        </p:nvSpPr>
        <p:spPr>
          <a:xfrm>
            <a:off x="5897880" y="1655064"/>
            <a:ext cx="278892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Unified, cross-functional squads</a:t>
            </a:r>
            <a:endParaRPr lang="en-US" sz="1050" dirty="0"/>
          </a:p>
        </p:txBody>
      </p:sp>
      <p:sp>
        <p:nvSpPr>
          <p:cNvPr id="19" name="Shape 17"/>
          <p:cNvSpPr/>
          <p:nvPr/>
        </p:nvSpPr>
        <p:spPr>
          <a:xfrm>
            <a:off x="411480" y="2157984"/>
            <a:ext cx="2194560" cy="530352"/>
          </a:xfrm>
          <a:prstGeom prst="rect">
            <a:avLst/>
          </a:prstGeom>
          <a:solidFill>
            <a:srgbClr val="FFFFFF"/>
          </a:solidFill>
          <a:ln w="6350">
            <a:solidFill>
              <a:srgbClr val="D1E3F3"/>
            </a:solidFill>
            <a:prstDash val="solid"/>
          </a:ln>
        </p:spPr>
        <p:txBody>
          <a:bodyPr/>
          <a:lstStyle/>
          <a:p>
            <a:endParaRPr lang="en-IN"/>
          </a:p>
        </p:txBody>
      </p:sp>
      <p:sp>
        <p:nvSpPr>
          <p:cNvPr id="20" name="Text 18"/>
          <p:cNvSpPr/>
          <p:nvPr/>
        </p:nvSpPr>
        <p:spPr>
          <a:xfrm>
            <a:off x="502920" y="2231136"/>
            <a:ext cx="201168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Release Frequency</a:t>
            </a:r>
            <a:endParaRPr lang="en-US" sz="1050" dirty="0"/>
          </a:p>
        </p:txBody>
      </p:sp>
      <p:sp>
        <p:nvSpPr>
          <p:cNvPr id="21" name="Shape 19"/>
          <p:cNvSpPr/>
          <p:nvPr/>
        </p:nvSpPr>
        <p:spPr>
          <a:xfrm>
            <a:off x="2651760" y="2157984"/>
            <a:ext cx="3063240" cy="530352"/>
          </a:xfrm>
          <a:prstGeom prst="rect">
            <a:avLst/>
          </a:prstGeom>
          <a:solidFill>
            <a:srgbClr val="FFFFFF"/>
          </a:solidFill>
          <a:ln w="6350">
            <a:solidFill>
              <a:srgbClr val="D1E3F3"/>
            </a:solidFill>
            <a:prstDash val="solid"/>
          </a:ln>
        </p:spPr>
        <p:txBody>
          <a:bodyPr/>
          <a:lstStyle/>
          <a:p>
            <a:endParaRPr lang="en-IN"/>
          </a:p>
        </p:txBody>
      </p:sp>
      <p:sp>
        <p:nvSpPr>
          <p:cNvPr id="22" name="Shape 20"/>
          <p:cNvSpPr/>
          <p:nvPr/>
        </p:nvSpPr>
        <p:spPr>
          <a:xfrm>
            <a:off x="2651760" y="2157984"/>
            <a:ext cx="54864" cy="530352"/>
          </a:xfrm>
          <a:prstGeom prst="rect">
            <a:avLst/>
          </a:prstGeom>
          <a:solidFill>
            <a:srgbClr val="C0392B"/>
          </a:solidFill>
          <a:ln/>
        </p:spPr>
        <p:txBody>
          <a:bodyPr/>
          <a:lstStyle/>
          <a:p>
            <a:endParaRPr lang="en-IN"/>
          </a:p>
        </p:txBody>
      </p:sp>
      <p:sp>
        <p:nvSpPr>
          <p:cNvPr id="23" name="Text 21"/>
          <p:cNvSpPr/>
          <p:nvPr/>
        </p:nvSpPr>
        <p:spPr>
          <a:xfrm>
            <a:off x="2788920" y="2231136"/>
            <a:ext cx="288036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Monthly, quarterly, or annual cycles</a:t>
            </a:r>
            <a:endParaRPr lang="en-US" sz="1050" dirty="0"/>
          </a:p>
        </p:txBody>
      </p:sp>
      <p:sp>
        <p:nvSpPr>
          <p:cNvPr id="24" name="Shape 22"/>
          <p:cNvSpPr/>
          <p:nvPr/>
        </p:nvSpPr>
        <p:spPr>
          <a:xfrm>
            <a:off x="5760720" y="2157984"/>
            <a:ext cx="2971800" cy="530352"/>
          </a:xfrm>
          <a:prstGeom prst="rect">
            <a:avLst/>
          </a:prstGeom>
          <a:solidFill>
            <a:srgbClr val="FFFFFF"/>
          </a:solidFill>
          <a:ln w="6350">
            <a:solidFill>
              <a:srgbClr val="D1E3F3"/>
            </a:solidFill>
            <a:prstDash val="solid"/>
          </a:ln>
        </p:spPr>
        <p:txBody>
          <a:bodyPr/>
          <a:lstStyle/>
          <a:p>
            <a:endParaRPr lang="en-IN"/>
          </a:p>
        </p:txBody>
      </p:sp>
      <p:sp>
        <p:nvSpPr>
          <p:cNvPr id="25" name="Shape 23"/>
          <p:cNvSpPr/>
          <p:nvPr/>
        </p:nvSpPr>
        <p:spPr>
          <a:xfrm>
            <a:off x="5760720" y="2157984"/>
            <a:ext cx="54864" cy="530352"/>
          </a:xfrm>
          <a:prstGeom prst="rect">
            <a:avLst/>
          </a:prstGeom>
          <a:solidFill>
            <a:srgbClr val="27AE60"/>
          </a:solidFill>
          <a:ln/>
        </p:spPr>
        <p:txBody>
          <a:bodyPr/>
          <a:lstStyle/>
          <a:p>
            <a:endParaRPr lang="en-IN"/>
          </a:p>
        </p:txBody>
      </p:sp>
      <p:sp>
        <p:nvSpPr>
          <p:cNvPr id="26" name="Text 24"/>
          <p:cNvSpPr/>
          <p:nvPr/>
        </p:nvSpPr>
        <p:spPr>
          <a:xfrm>
            <a:off x="5897880" y="2231136"/>
            <a:ext cx="278892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Multiple times per day</a:t>
            </a:r>
            <a:endParaRPr lang="en-US" sz="1050" dirty="0"/>
          </a:p>
        </p:txBody>
      </p:sp>
      <p:sp>
        <p:nvSpPr>
          <p:cNvPr id="27" name="Shape 25"/>
          <p:cNvSpPr/>
          <p:nvPr/>
        </p:nvSpPr>
        <p:spPr>
          <a:xfrm>
            <a:off x="411480" y="2734056"/>
            <a:ext cx="2194560" cy="530352"/>
          </a:xfrm>
          <a:prstGeom prst="rect">
            <a:avLst/>
          </a:prstGeom>
          <a:solidFill>
            <a:srgbClr val="EEF4FB"/>
          </a:solidFill>
          <a:ln w="6350">
            <a:solidFill>
              <a:srgbClr val="D1E3F3"/>
            </a:solidFill>
            <a:prstDash val="solid"/>
          </a:ln>
        </p:spPr>
        <p:txBody>
          <a:bodyPr/>
          <a:lstStyle/>
          <a:p>
            <a:endParaRPr lang="en-IN"/>
          </a:p>
        </p:txBody>
      </p:sp>
      <p:sp>
        <p:nvSpPr>
          <p:cNvPr id="28" name="Text 26"/>
          <p:cNvSpPr/>
          <p:nvPr/>
        </p:nvSpPr>
        <p:spPr>
          <a:xfrm>
            <a:off x="502920" y="2807208"/>
            <a:ext cx="201168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Testing Approach</a:t>
            </a:r>
            <a:endParaRPr lang="en-US" sz="1050" dirty="0"/>
          </a:p>
        </p:txBody>
      </p:sp>
      <p:sp>
        <p:nvSpPr>
          <p:cNvPr id="29" name="Shape 27"/>
          <p:cNvSpPr/>
          <p:nvPr/>
        </p:nvSpPr>
        <p:spPr>
          <a:xfrm>
            <a:off x="2651760" y="2734056"/>
            <a:ext cx="3063240" cy="530352"/>
          </a:xfrm>
          <a:prstGeom prst="rect">
            <a:avLst/>
          </a:prstGeom>
          <a:solidFill>
            <a:srgbClr val="EEF4FB"/>
          </a:solidFill>
          <a:ln w="6350">
            <a:solidFill>
              <a:srgbClr val="D1E3F3"/>
            </a:solidFill>
            <a:prstDash val="solid"/>
          </a:ln>
        </p:spPr>
        <p:txBody>
          <a:bodyPr/>
          <a:lstStyle/>
          <a:p>
            <a:endParaRPr lang="en-IN"/>
          </a:p>
        </p:txBody>
      </p:sp>
      <p:sp>
        <p:nvSpPr>
          <p:cNvPr id="30" name="Shape 28"/>
          <p:cNvSpPr/>
          <p:nvPr/>
        </p:nvSpPr>
        <p:spPr>
          <a:xfrm>
            <a:off x="2651760" y="2734056"/>
            <a:ext cx="54864" cy="530352"/>
          </a:xfrm>
          <a:prstGeom prst="rect">
            <a:avLst/>
          </a:prstGeom>
          <a:solidFill>
            <a:srgbClr val="C0392B"/>
          </a:solidFill>
          <a:ln/>
        </p:spPr>
        <p:txBody>
          <a:bodyPr/>
          <a:lstStyle/>
          <a:p>
            <a:endParaRPr lang="en-IN"/>
          </a:p>
        </p:txBody>
      </p:sp>
      <p:sp>
        <p:nvSpPr>
          <p:cNvPr id="31" name="Text 29"/>
          <p:cNvSpPr/>
          <p:nvPr/>
        </p:nvSpPr>
        <p:spPr>
          <a:xfrm>
            <a:off x="2788920" y="2807208"/>
            <a:ext cx="288036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Manual QA at the end of the project</a:t>
            </a:r>
            <a:endParaRPr lang="en-US" sz="1050" dirty="0"/>
          </a:p>
        </p:txBody>
      </p:sp>
      <p:sp>
        <p:nvSpPr>
          <p:cNvPr id="32" name="Shape 30"/>
          <p:cNvSpPr/>
          <p:nvPr/>
        </p:nvSpPr>
        <p:spPr>
          <a:xfrm>
            <a:off x="5760720" y="2734056"/>
            <a:ext cx="2971800" cy="530352"/>
          </a:xfrm>
          <a:prstGeom prst="rect">
            <a:avLst/>
          </a:prstGeom>
          <a:solidFill>
            <a:srgbClr val="EEF4FB"/>
          </a:solidFill>
          <a:ln w="6350">
            <a:solidFill>
              <a:srgbClr val="D1E3F3"/>
            </a:solidFill>
            <a:prstDash val="solid"/>
          </a:ln>
        </p:spPr>
        <p:txBody>
          <a:bodyPr/>
          <a:lstStyle/>
          <a:p>
            <a:endParaRPr lang="en-IN"/>
          </a:p>
        </p:txBody>
      </p:sp>
      <p:sp>
        <p:nvSpPr>
          <p:cNvPr id="33" name="Shape 31"/>
          <p:cNvSpPr/>
          <p:nvPr/>
        </p:nvSpPr>
        <p:spPr>
          <a:xfrm>
            <a:off x="5760720" y="2734056"/>
            <a:ext cx="54864" cy="530352"/>
          </a:xfrm>
          <a:prstGeom prst="rect">
            <a:avLst/>
          </a:prstGeom>
          <a:solidFill>
            <a:srgbClr val="27AE60"/>
          </a:solidFill>
          <a:ln/>
        </p:spPr>
        <p:txBody>
          <a:bodyPr/>
          <a:lstStyle/>
          <a:p>
            <a:endParaRPr lang="en-IN"/>
          </a:p>
        </p:txBody>
      </p:sp>
      <p:sp>
        <p:nvSpPr>
          <p:cNvPr id="34" name="Text 32"/>
          <p:cNvSpPr/>
          <p:nvPr/>
        </p:nvSpPr>
        <p:spPr>
          <a:xfrm>
            <a:off x="5897880" y="2807208"/>
            <a:ext cx="278892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Automated, continuous throughout</a:t>
            </a:r>
            <a:endParaRPr lang="en-US" sz="1050" dirty="0"/>
          </a:p>
        </p:txBody>
      </p:sp>
      <p:sp>
        <p:nvSpPr>
          <p:cNvPr id="35" name="Shape 33"/>
          <p:cNvSpPr/>
          <p:nvPr/>
        </p:nvSpPr>
        <p:spPr>
          <a:xfrm>
            <a:off x="411480" y="3310128"/>
            <a:ext cx="2194560" cy="530352"/>
          </a:xfrm>
          <a:prstGeom prst="rect">
            <a:avLst/>
          </a:prstGeom>
          <a:solidFill>
            <a:srgbClr val="FFFFFF"/>
          </a:solidFill>
          <a:ln w="6350">
            <a:solidFill>
              <a:srgbClr val="D1E3F3"/>
            </a:solidFill>
            <a:prstDash val="solid"/>
          </a:ln>
        </p:spPr>
        <p:txBody>
          <a:bodyPr/>
          <a:lstStyle/>
          <a:p>
            <a:endParaRPr lang="en-IN"/>
          </a:p>
        </p:txBody>
      </p:sp>
      <p:sp>
        <p:nvSpPr>
          <p:cNvPr id="36" name="Text 34"/>
          <p:cNvSpPr/>
          <p:nvPr/>
        </p:nvSpPr>
        <p:spPr>
          <a:xfrm>
            <a:off x="502920" y="3383280"/>
            <a:ext cx="201168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Deployment Process</a:t>
            </a:r>
            <a:endParaRPr lang="en-US" sz="1050" dirty="0"/>
          </a:p>
        </p:txBody>
      </p:sp>
      <p:sp>
        <p:nvSpPr>
          <p:cNvPr id="37" name="Shape 35"/>
          <p:cNvSpPr/>
          <p:nvPr/>
        </p:nvSpPr>
        <p:spPr>
          <a:xfrm>
            <a:off x="2651760" y="3310128"/>
            <a:ext cx="3063240" cy="530352"/>
          </a:xfrm>
          <a:prstGeom prst="rect">
            <a:avLst/>
          </a:prstGeom>
          <a:solidFill>
            <a:srgbClr val="FFFFFF"/>
          </a:solidFill>
          <a:ln w="6350">
            <a:solidFill>
              <a:srgbClr val="D1E3F3"/>
            </a:solidFill>
            <a:prstDash val="solid"/>
          </a:ln>
        </p:spPr>
        <p:txBody>
          <a:bodyPr/>
          <a:lstStyle/>
          <a:p>
            <a:endParaRPr lang="en-IN"/>
          </a:p>
        </p:txBody>
      </p:sp>
      <p:sp>
        <p:nvSpPr>
          <p:cNvPr id="38" name="Shape 36"/>
          <p:cNvSpPr/>
          <p:nvPr/>
        </p:nvSpPr>
        <p:spPr>
          <a:xfrm>
            <a:off x="2651760" y="3310128"/>
            <a:ext cx="54864" cy="530352"/>
          </a:xfrm>
          <a:prstGeom prst="rect">
            <a:avLst/>
          </a:prstGeom>
          <a:solidFill>
            <a:srgbClr val="C0392B"/>
          </a:solidFill>
          <a:ln/>
        </p:spPr>
        <p:txBody>
          <a:bodyPr/>
          <a:lstStyle/>
          <a:p>
            <a:endParaRPr lang="en-IN"/>
          </a:p>
        </p:txBody>
      </p:sp>
      <p:sp>
        <p:nvSpPr>
          <p:cNvPr id="39" name="Text 37"/>
          <p:cNvSpPr/>
          <p:nvPr/>
        </p:nvSpPr>
        <p:spPr>
          <a:xfrm>
            <a:off x="2788920" y="3383280"/>
            <a:ext cx="288036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Manual configuration by Ops team</a:t>
            </a:r>
            <a:endParaRPr lang="en-US" sz="1050" dirty="0"/>
          </a:p>
        </p:txBody>
      </p:sp>
      <p:sp>
        <p:nvSpPr>
          <p:cNvPr id="40" name="Shape 38"/>
          <p:cNvSpPr/>
          <p:nvPr/>
        </p:nvSpPr>
        <p:spPr>
          <a:xfrm>
            <a:off x="5760720" y="3310128"/>
            <a:ext cx="2971800" cy="530352"/>
          </a:xfrm>
          <a:prstGeom prst="rect">
            <a:avLst/>
          </a:prstGeom>
          <a:solidFill>
            <a:srgbClr val="FFFFFF"/>
          </a:solidFill>
          <a:ln w="6350">
            <a:solidFill>
              <a:srgbClr val="D1E3F3"/>
            </a:solidFill>
            <a:prstDash val="solid"/>
          </a:ln>
        </p:spPr>
        <p:txBody>
          <a:bodyPr/>
          <a:lstStyle/>
          <a:p>
            <a:endParaRPr lang="en-IN"/>
          </a:p>
        </p:txBody>
      </p:sp>
      <p:sp>
        <p:nvSpPr>
          <p:cNvPr id="41" name="Shape 39"/>
          <p:cNvSpPr/>
          <p:nvPr/>
        </p:nvSpPr>
        <p:spPr>
          <a:xfrm>
            <a:off x="5760720" y="3310128"/>
            <a:ext cx="54864" cy="530352"/>
          </a:xfrm>
          <a:prstGeom prst="rect">
            <a:avLst/>
          </a:prstGeom>
          <a:solidFill>
            <a:srgbClr val="27AE60"/>
          </a:solidFill>
          <a:ln/>
        </p:spPr>
        <p:txBody>
          <a:bodyPr/>
          <a:lstStyle/>
          <a:p>
            <a:endParaRPr lang="en-IN"/>
          </a:p>
        </p:txBody>
      </p:sp>
      <p:sp>
        <p:nvSpPr>
          <p:cNvPr id="42" name="Text 40"/>
          <p:cNvSpPr/>
          <p:nvPr/>
        </p:nvSpPr>
        <p:spPr>
          <a:xfrm>
            <a:off x="5897880" y="3383280"/>
            <a:ext cx="278892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Scripted, automated pipelines</a:t>
            </a:r>
            <a:endParaRPr lang="en-US" sz="1050" dirty="0"/>
          </a:p>
        </p:txBody>
      </p:sp>
      <p:sp>
        <p:nvSpPr>
          <p:cNvPr id="43" name="Shape 41"/>
          <p:cNvSpPr/>
          <p:nvPr/>
        </p:nvSpPr>
        <p:spPr>
          <a:xfrm>
            <a:off x="411480" y="3886200"/>
            <a:ext cx="2194560" cy="530352"/>
          </a:xfrm>
          <a:prstGeom prst="rect">
            <a:avLst/>
          </a:prstGeom>
          <a:solidFill>
            <a:srgbClr val="EEF4FB"/>
          </a:solidFill>
          <a:ln w="6350">
            <a:solidFill>
              <a:srgbClr val="D1E3F3"/>
            </a:solidFill>
            <a:prstDash val="solid"/>
          </a:ln>
        </p:spPr>
        <p:txBody>
          <a:bodyPr/>
          <a:lstStyle/>
          <a:p>
            <a:endParaRPr lang="en-IN"/>
          </a:p>
        </p:txBody>
      </p:sp>
      <p:sp>
        <p:nvSpPr>
          <p:cNvPr id="44" name="Text 42"/>
          <p:cNvSpPr/>
          <p:nvPr/>
        </p:nvSpPr>
        <p:spPr>
          <a:xfrm>
            <a:off x="502920" y="3959352"/>
            <a:ext cx="201168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Customer Feedback</a:t>
            </a:r>
            <a:endParaRPr lang="en-US" sz="1050" dirty="0"/>
          </a:p>
        </p:txBody>
      </p:sp>
      <p:sp>
        <p:nvSpPr>
          <p:cNvPr id="45" name="Shape 43"/>
          <p:cNvSpPr/>
          <p:nvPr/>
        </p:nvSpPr>
        <p:spPr>
          <a:xfrm>
            <a:off x="2651760" y="3886200"/>
            <a:ext cx="3063240" cy="530352"/>
          </a:xfrm>
          <a:prstGeom prst="rect">
            <a:avLst/>
          </a:prstGeom>
          <a:solidFill>
            <a:srgbClr val="EEF4FB"/>
          </a:solidFill>
          <a:ln w="6350">
            <a:solidFill>
              <a:srgbClr val="D1E3F3"/>
            </a:solidFill>
            <a:prstDash val="solid"/>
          </a:ln>
        </p:spPr>
        <p:txBody>
          <a:bodyPr/>
          <a:lstStyle/>
          <a:p>
            <a:endParaRPr lang="en-IN"/>
          </a:p>
        </p:txBody>
      </p:sp>
      <p:sp>
        <p:nvSpPr>
          <p:cNvPr id="46" name="Shape 44"/>
          <p:cNvSpPr/>
          <p:nvPr/>
        </p:nvSpPr>
        <p:spPr>
          <a:xfrm>
            <a:off x="2651760" y="3886200"/>
            <a:ext cx="54864" cy="530352"/>
          </a:xfrm>
          <a:prstGeom prst="rect">
            <a:avLst/>
          </a:prstGeom>
          <a:solidFill>
            <a:srgbClr val="C0392B"/>
          </a:solidFill>
          <a:ln/>
        </p:spPr>
        <p:txBody>
          <a:bodyPr/>
          <a:lstStyle/>
          <a:p>
            <a:endParaRPr lang="en-IN"/>
          </a:p>
        </p:txBody>
      </p:sp>
      <p:sp>
        <p:nvSpPr>
          <p:cNvPr id="47" name="Text 45"/>
          <p:cNvSpPr/>
          <p:nvPr/>
        </p:nvSpPr>
        <p:spPr>
          <a:xfrm>
            <a:off x="2788920" y="3959352"/>
            <a:ext cx="288036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Available only after full release</a:t>
            </a:r>
            <a:endParaRPr lang="en-US" sz="1050" dirty="0"/>
          </a:p>
        </p:txBody>
      </p:sp>
      <p:sp>
        <p:nvSpPr>
          <p:cNvPr id="48" name="Shape 46"/>
          <p:cNvSpPr/>
          <p:nvPr/>
        </p:nvSpPr>
        <p:spPr>
          <a:xfrm>
            <a:off x="5760720" y="3886200"/>
            <a:ext cx="2971800" cy="530352"/>
          </a:xfrm>
          <a:prstGeom prst="rect">
            <a:avLst/>
          </a:prstGeom>
          <a:solidFill>
            <a:srgbClr val="EEF4FB"/>
          </a:solidFill>
          <a:ln w="6350">
            <a:solidFill>
              <a:srgbClr val="D1E3F3"/>
            </a:solidFill>
            <a:prstDash val="solid"/>
          </a:ln>
        </p:spPr>
        <p:txBody>
          <a:bodyPr/>
          <a:lstStyle/>
          <a:p>
            <a:endParaRPr lang="en-IN"/>
          </a:p>
        </p:txBody>
      </p:sp>
      <p:sp>
        <p:nvSpPr>
          <p:cNvPr id="49" name="Shape 47"/>
          <p:cNvSpPr/>
          <p:nvPr/>
        </p:nvSpPr>
        <p:spPr>
          <a:xfrm>
            <a:off x="5760720" y="3886200"/>
            <a:ext cx="54864" cy="530352"/>
          </a:xfrm>
          <a:prstGeom prst="rect">
            <a:avLst/>
          </a:prstGeom>
          <a:solidFill>
            <a:srgbClr val="27AE60"/>
          </a:solidFill>
          <a:ln/>
        </p:spPr>
        <p:txBody>
          <a:bodyPr/>
          <a:lstStyle/>
          <a:p>
            <a:endParaRPr lang="en-IN"/>
          </a:p>
        </p:txBody>
      </p:sp>
      <p:sp>
        <p:nvSpPr>
          <p:cNvPr id="50" name="Text 48"/>
          <p:cNvSpPr/>
          <p:nvPr/>
        </p:nvSpPr>
        <p:spPr>
          <a:xfrm>
            <a:off x="5897880" y="3959352"/>
            <a:ext cx="278892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Real-time via monitoring and A/B tests</a:t>
            </a:r>
            <a:endParaRPr lang="en-US" sz="1050" dirty="0"/>
          </a:p>
        </p:txBody>
      </p:sp>
      <p:sp>
        <p:nvSpPr>
          <p:cNvPr id="51" name="Shape 49"/>
          <p:cNvSpPr/>
          <p:nvPr/>
        </p:nvSpPr>
        <p:spPr>
          <a:xfrm>
            <a:off x="411480" y="4462272"/>
            <a:ext cx="2194560" cy="530352"/>
          </a:xfrm>
          <a:prstGeom prst="rect">
            <a:avLst/>
          </a:prstGeom>
          <a:solidFill>
            <a:srgbClr val="FFFFFF"/>
          </a:solidFill>
          <a:ln w="6350">
            <a:solidFill>
              <a:srgbClr val="D1E3F3"/>
            </a:solidFill>
            <a:prstDash val="solid"/>
          </a:ln>
        </p:spPr>
        <p:txBody>
          <a:bodyPr/>
          <a:lstStyle/>
          <a:p>
            <a:endParaRPr lang="en-IN"/>
          </a:p>
        </p:txBody>
      </p:sp>
      <p:sp>
        <p:nvSpPr>
          <p:cNvPr id="52" name="Text 50"/>
          <p:cNvSpPr/>
          <p:nvPr/>
        </p:nvSpPr>
        <p:spPr>
          <a:xfrm>
            <a:off x="502920" y="4535424"/>
            <a:ext cx="201168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Failure Response</a:t>
            </a:r>
            <a:endParaRPr lang="en-US" sz="1050" dirty="0"/>
          </a:p>
        </p:txBody>
      </p:sp>
      <p:sp>
        <p:nvSpPr>
          <p:cNvPr id="53" name="Shape 51"/>
          <p:cNvSpPr/>
          <p:nvPr/>
        </p:nvSpPr>
        <p:spPr>
          <a:xfrm>
            <a:off x="2651760" y="4462272"/>
            <a:ext cx="3063240" cy="530352"/>
          </a:xfrm>
          <a:prstGeom prst="rect">
            <a:avLst/>
          </a:prstGeom>
          <a:solidFill>
            <a:srgbClr val="FFFFFF"/>
          </a:solidFill>
          <a:ln w="6350">
            <a:solidFill>
              <a:srgbClr val="D1E3F3"/>
            </a:solidFill>
            <a:prstDash val="solid"/>
          </a:ln>
        </p:spPr>
        <p:txBody>
          <a:bodyPr/>
          <a:lstStyle/>
          <a:p>
            <a:endParaRPr lang="en-IN"/>
          </a:p>
        </p:txBody>
      </p:sp>
      <p:sp>
        <p:nvSpPr>
          <p:cNvPr id="54" name="Shape 52"/>
          <p:cNvSpPr/>
          <p:nvPr/>
        </p:nvSpPr>
        <p:spPr>
          <a:xfrm>
            <a:off x="2651760" y="4462272"/>
            <a:ext cx="54864" cy="530352"/>
          </a:xfrm>
          <a:prstGeom prst="rect">
            <a:avLst/>
          </a:prstGeom>
          <a:solidFill>
            <a:srgbClr val="C0392B"/>
          </a:solidFill>
          <a:ln/>
        </p:spPr>
        <p:txBody>
          <a:bodyPr/>
          <a:lstStyle/>
          <a:p>
            <a:endParaRPr lang="en-IN"/>
          </a:p>
        </p:txBody>
      </p:sp>
      <p:sp>
        <p:nvSpPr>
          <p:cNvPr id="55" name="Text 53"/>
          <p:cNvSpPr/>
          <p:nvPr/>
        </p:nvSpPr>
        <p:spPr>
          <a:xfrm>
            <a:off x="2788920" y="4535424"/>
            <a:ext cx="288036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Blame, long investigation, hotfixes</a:t>
            </a:r>
            <a:endParaRPr lang="en-US" sz="1050" dirty="0"/>
          </a:p>
        </p:txBody>
      </p:sp>
      <p:sp>
        <p:nvSpPr>
          <p:cNvPr id="56" name="Shape 54"/>
          <p:cNvSpPr/>
          <p:nvPr/>
        </p:nvSpPr>
        <p:spPr>
          <a:xfrm>
            <a:off x="5760720" y="4462272"/>
            <a:ext cx="2971800" cy="530352"/>
          </a:xfrm>
          <a:prstGeom prst="rect">
            <a:avLst/>
          </a:prstGeom>
          <a:solidFill>
            <a:srgbClr val="FFFFFF"/>
          </a:solidFill>
          <a:ln w="6350">
            <a:solidFill>
              <a:srgbClr val="D1E3F3"/>
            </a:solidFill>
            <a:prstDash val="solid"/>
          </a:ln>
        </p:spPr>
        <p:txBody>
          <a:bodyPr/>
          <a:lstStyle/>
          <a:p>
            <a:endParaRPr lang="en-IN"/>
          </a:p>
        </p:txBody>
      </p:sp>
      <p:sp>
        <p:nvSpPr>
          <p:cNvPr id="57" name="Shape 55"/>
          <p:cNvSpPr/>
          <p:nvPr/>
        </p:nvSpPr>
        <p:spPr>
          <a:xfrm>
            <a:off x="5760720" y="4462272"/>
            <a:ext cx="54864" cy="530352"/>
          </a:xfrm>
          <a:prstGeom prst="rect">
            <a:avLst/>
          </a:prstGeom>
          <a:solidFill>
            <a:srgbClr val="27AE60"/>
          </a:solidFill>
          <a:ln/>
        </p:spPr>
        <p:txBody>
          <a:bodyPr/>
          <a:lstStyle/>
          <a:p>
            <a:endParaRPr lang="en-IN"/>
          </a:p>
        </p:txBody>
      </p:sp>
      <p:sp>
        <p:nvSpPr>
          <p:cNvPr id="58" name="Text 56"/>
          <p:cNvSpPr/>
          <p:nvPr/>
        </p:nvSpPr>
        <p:spPr>
          <a:xfrm>
            <a:off x="5897880" y="4535424"/>
            <a:ext cx="2788920" cy="38404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Blameless post-mortems, fast rollbacks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Real-World Scenario: Zomato's Rating System Overhaul</a:t>
            </a:r>
            <a:endParaRPr lang="en-US" sz="2600" dirty="0"/>
          </a:p>
        </p:txBody>
      </p:sp>
      <p:sp>
        <p:nvSpPr>
          <p:cNvPr id="4" name="Shape 2"/>
          <p:cNvSpPr/>
          <p:nvPr/>
        </p:nvSpPr>
        <p:spPr>
          <a:xfrm>
            <a:off x="411480" y="914400"/>
            <a:ext cx="8321040" cy="621792"/>
          </a:xfrm>
          <a:prstGeom prst="rect">
            <a:avLst/>
          </a:prstGeom>
          <a:solidFill>
            <a:srgbClr val="1A6FBF"/>
          </a:solidFill>
          <a:ln/>
        </p:spPr>
        <p:txBody>
          <a:bodyPr/>
          <a:lstStyle/>
          <a:p>
            <a:endParaRPr lang="en-IN"/>
          </a:p>
        </p:txBody>
      </p:sp>
      <p:sp>
        <p:nvSpPr>
          <p:cNvPr id="5" name="Text 3"/>
          <p:cNvSpPr/>
          <p:nvPr/>
        </p:nvSpPr>
        <p:spPr>
          <a:xfrm>
            <a:off x="594360" y="941832"/>
            <a:ext cx="7955280" cy="56692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Scenario: Zomato's restaurant rating algorithm was outdated — it weighted one-star reviews and five-star reviews equally, causing good restaurants to appear alongside poorly-rated ones. The product team needed to replace the algorithm and redesign the rating display without taking the app offline or disrupting 15 million daily active users.</a:t>
            </a:r>
            <a:endParaRPr lang="en-US" sz="1100" dirty="0"/>
          </a:p>
        </p:txBody>
      </p:sp>
      <p:sp>
        <p:nvSpPr>
          <p:cNvPr id="6" name="Shape 4"/>
          <p:cNvSpPr/>
          <p:nvPr/>
        </p:nvSpPr>
        <p:spPr>
          <a:xfrm>
            <a:off x="411480" y="1664208"/>
            <a:ext cx="4069080" cy="324612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7" name="Shape 5"/>
          <p:cNvSpPr/>
          <p:nvPr/>
        </p:nvSpPr>
        <p:spPr>
          <a:xfrm>
            <a:off x="411480" y="1664208"/>
            <a:ext cx="4069080" cy="438912"/>
          </a:xfrm>
          <a:prstGeom prst="rect">
            <a:avLst/>
          </a:prstGeom>
          <a:solidFill>
            <a:srgbClr val="C0392B"/>
          </a:solidFill>
          <a:ln/>
        </p:spPr>
        <p:txBody>
          <a:bodyPr/>
          <a:lstStyle/>
          <a:p>
            <a:endParaRPr lang="en-IN"/>
          </a:p>
        </p:txBody>
      </p:sp>
      <p:sp>
        <p:nvSpPr>
          <p:cNvPr id="8" name="Text 6"/>
          <p:cNvSpPr/>
          <p:nvPr/>
        </p:nvSpPr>
        <p:spPr>
          <a:xfrm>
            <a:off x="502920" y="1682496"/>
            <a:ext cx="3886200"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Traditional Approach — What Would Have Happened</a:t>
            </a:r>
            <a:endParaRPr lang="en-US" sz="1150" dirty="0"/>
          </a:p>
        </p:txBody>
      </p:sp>
      <p:sp>
        <p:nvSpPr>
          <p:cNvPr id="9" name="Text 7"/>
          <p:cNvSpPr/>
          <p:nvPr/>
        </p:nvSpPr>
        <p:spPr>
          <a:xfrm>
            <a:off x="566928" y="2212848"/>
            <a:ext cx="3794760" cy="219456"/>
          </a:xfrm>
          <a:prstGeom prst="rect">
            <a:avLst/>
          </a:prstGeom>
          <a:noFill/>
          <a:ln/>
        </p:spPr>
        <p:txBody>
          <a:bodyPr wrap="square" lIns="0" tIns="0" rIns="0" bIns="0" rtlCol="0" anchor="ctr"/>
          <a:lstStyle/>
          <a:p>
            <a:pPr marL="0" indent="0">
              <a:buNone/>
            </a:pPr>
            <a:r>
              <a:rPr lang="en-US" sz="1050" b="1" dirty="0">
                <a:solidFill>
                  <a:srgbClr val="7B241C"/>
                </a:solidFill>
                <a:latin typeface="Calibri" pitchFamily="34" charset="0"/>
                <a:ea typeface="Calibri" pitchFamily="34" charset="-122"/>
                <a:cs typeface="Calibri" pitchFamily="34" charset="-120"/>
              </a:rPr>
              <a:t>Planning (6 weeks)</a:t>
            </a:r>
            <a:endParaRPr lang="en-US" sz="1050" dirty="0"/>
          </a:p>
        </p:txBody>
      </p:sp>
      <p:sp>
        <p:nvSpPr>
          <p:cNvPr id="10" name="Text 8"/>
          <p:cNvSpPr/>
          <p:nvPr/>
        </p:nvSpPr>
        <p:spPr>
          <a:xfrm>
            <a:off x="566928" y="2423160"/>
            <a:ext cx="379476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Business analysts wrote a full requirements document and got sign-off from three departments before any development started.</a:t>
            </a:r>
            <a:endParaRPr lang="en-US" sz="900" dirty="0"/>
          </a:p>
        </p:txBody>
      </p:sp>
      <p:sp>
        <p:nvSpPr>
          <p:cNvPr id="11" name="Text 9"/>
          <p:cNvSpPr/>
          <p:nvPr/>
        </p:nvSpPr>
        <p:spPr>
          <a:xfrm>
            <a:off x="566928" y="2724912"/>
            <a:ext cx="3794760" cy="219456"/>
          </a:xfrm>
          <a:prstGeom prst="rect">
            <a:avLst/>
          </a:prstGeom>
          <a:noFill/>
          <a:ln/>
        </p:spPr>
        <p:txBody>
          <a:bodyPr wrap="square" lIns="0" tIns="0" rIns="0" bIns="0" rtlCol="0" anchor="ctr"/>
          <a:lstStyle/>
          <a:p>
            <a:pPr marL="0" indent="0">
              <a:buNone/>
            </a:pPr>
            <a:r>
              <a:rPr lang="en-US" sz="1050" b="1" dirty="0">
                <a:solidFill>
                  <a:srgbClr val="7B241C"/>
                </a:solidFill>
                <a:latin typeface="Calibri" pitchFamily="34" charset="0"/>
                <a:ea typeface="Calibri" pitchFamily="34" charset="-122"/>
                <a:cs typeface="Calibri" pitchFamily="34" charset="-120"/>
              </a:rPr>
              <a:t>Development (3 months)</a:t>
            </a:r>
            <a:endParaRPr lang="en-US" sz="1050" dirty="0"/>
          </a:p>
        </p:txBody>
      </p:sp>
      <p:sp>
        <p:nvSpPr>
          <p:cNvPr id="12" name="Text 10"/>
          <p:cNvSpPr/>
          <p:nvPr/>
        </p:nvSpPr>
        <p:spPr>
          <a:xfrm>
            <a:off x="566928" y="2935224"/>
            <a:ext cx="379476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Three separate dev teams built components in isolation. No shared environments — each team used different test datasets.</a:t>
            </a:r>
            <a:endParaRPr lang="en-US" sz="900" dirty="0"/>
          </a:p>
        </p:txBody>
      </p:sp>
      <p:sp>
        <p:nvSpPr>
          <p:cNvPr id="13" name="Text 11"/>
          <p:cNvSpPr/>
          <p:nvPr/>
        </p:nvSpPr>
        <p:spPr>
          <a:xfrm>
            <a:off x="566928" y="3236976"/>
            <a:ext cx="3794760" cy="219456"/>
          </a:xfrm>
          <a:prstGeom prst="rect">
            <a:avLst/>
          </a:prstGeom>
          <a:noFill/>
          <a:ln/>
        </p:spPr>
        <p:txBody>
          <a:bodyPr wrap="square" lIns="0" tIns="0" rIns="0" bIns="0" rtlCol="0" anchor="ctr"/>
          <a:lstStyle/>
          <a:p>
            <a:pPr marL="0" indent="0">
              <a:buNone/>
            </a:pPr>
            <a:r>
              <a:rPr lang="en-US" sz="1050" b="1" dirty="0">
                <a:solidFill>
                  <a:srgbClr val="7B241C"/>
                </a:solidFill>
                <a:latin typeface="Calibri" pitchFamily="34" charset="0"/>
                <a:ea typeface="Calibri" pitchFamily="34" charset="-122"/>
                <a:cs typeface="Calibri" pitchFamily="34" charset="-120"/>
              </a:rPr>
              <a:t>Handoff to QA (3 weeks)</a:t>
            </a:r>
            <a:endParaRPr lang="en-US" sz="1050" dirty="0"/>
          </a:p>
        </p:txBody>
      </p:sp>
      <p:sp>
        <p:nvSpPr>
          <p:cNvPr id="14" name="Text 12"/>
          <p:cNvSpPr/>
          <p:nvPr/>
        </p:nvSpPr>
        <p:spPr>
          <a:xfrm>
            <a:off x="566928" y="3447288"/>
            <a:ext cx="379476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QA received the build and found 140 bugs. Developers had moved on to new sprints and had to context-switch back.</a:t>
            </a:r>
            <a:endParaRPr lang="en-US" sz="900" dirty="0"/>
          </a:p>
        </p:txBody>
      </p:sp>
      <p:sp>
        <p:nvSpPr>
          <p:cNvPr id="15" name="Text 13"/>
          <p:cNvSpPr/>
          <p:nvPr/>
        </p:nvSpPr>
        <p:spPr>
          <a:xfrm>
            <a:off x="566928" y="3749040"/>
            <a:ext cx="3794760" cy="219456"/>
          </a:xfrm>
          <a:prstGeom prst="rect">
            <a:avLst/>
          </a:prstGeom>
          <a:noFill/>
          <a:ln/>
        </p:spPr>
        <p:txBody>
          <a:bodyPr wrap="square" lIns="0" tIns="0" rIns="0" bIns="0" rtlCol="0" anchor="ctr"/>
          <a:lstStyle/>
          <a:p>
            <a:pPr marL="0" indent="0">
              <a:buNone/>
            </a:pPr>
            <a:r>
              <a:rPr lang="en-US" sz="1050" b="1" dirty="0">
                <a:solidFill>
                  <a:srgbClr val="7B241C"/>
                </a:solidFill>
                <a:latin typeface="Calibri" pitchFamily="34" charset="0"/>
                <a:ea typeface="Calibri" pitchFamily="34" charset="-122"/>
                <a:cs typeface="Calibri" pitchFamily="34" charset="-120"/>
              </a:rPr>
              <a:t>Deployment (2 days)</a:t>
            </a:r>
            <a:endParaRPr lang="en-US" sz="1050" dirty="0"/>
          </a:p>
        </p:txBody>
      </p:sp>
      <p:sp>
        <p:nvSpPr>
          <p:cNvPr id="16" name="Text 14"/>
          <p:cNvSpPr/>
          <p:nvPr/>
        </p:nvSpPr>
        <p:spPr>
          <a:xfrm>
            <a:off x="566928" y="3959352"/>
            <a:ext cx="379476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Operations manually provisioned new servers, ran migration scripts, and monitored logs. The app was down for 4 hours during the cutover.</a:t>
            </a:r>
            <a:endParaRPr lang="en-US" sz="900" dirty="0"/>
          </a:p>
        </p:txBody>
      </p:sp>
      <p:sp>
        <p:nvSpPr>
          <p:cNvPr id="17" name="Text 15"/>
          <p:cNvSpPr/>
          <p:nvPr/>
        </p:nvSpPr>
        <p:spPr>
          <a:xfrm>
            <a:off x="566928" y="4261104"/>
            <a:ext cx="3794760" cy="219456"/>
          </a:xfrm>
          <a:prstGeom prst="rect">
            <a:avLst/>
          </a:prstGeom>
          <a:noFill/>
          <a:ln/>
        </p:spPr>
        <p:txBody>
          <a:bodyPr wrap="square" lIns="0" tIns="0" rIns="0" bIns="0" rtlCol="0" anchor="ctr"/>
          <a:lstStyle/>
          <a:p>
            <a:pPr marL="0" indent="0">
              <a:buNone/>
            </a:pPr>
            <a:r>
              <a:rPr lang="en-US" sz="1050" b="1" dirty="0">
                <a:solidFill>
                  <a:srgbClr val="7B241C"/>
                </a:solidFill>
                <a:latin typeface="Calibri" pitchFamily="34" charset="0"/>
                <a:ea typeface="Calibri" pitchFamily="34" charset="-122"/>
                <a:cs typeface="Calibri" pitchFamily="34" charset="-120"/>
              </a:rPr>
              <a:t>Outcome</a:t>
            </a:r>
            <a:endParaRPr lang="en-US" sz="1050" dirty="0"/>
          </a:p>
        </p:txBody>
      </p:sp>
      <p:sp>
        <p:nvSpPr>
          <p:cNvPr id="18" name="Text 16"/>
          <p:cNvSpPr/>
          <p:nvPr/>
        </p:nvSpPr>
        <p:spPr>
          <a:xfrm>
            <a:off x="566928" y="4471416"/>
            <a:ext cx="379476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Total time: 6 months. Rating system launched with several edge-case bugs that only appeared under real traffic. Users noticed before monitoring did.</a:t>
            </a:r>
            <a:endParaRPr lang="en-US" sz="900" dirty="0"/>
          </a:p>
        </p:txBody>
      </p:sp>
      <p:sp>
        <p:nvSpPr>
          <p:cNvPr id="19" name="Shape 17"/>
          <p:cNvSpPr/>
          <p:nvPr/>
        </p:nvSpPr>
        <p:spPr>
          <a:xfrm>
            <a:off x="4754880" y="1664208"/>
            <a:ext cx="3977640" cy="324612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0" name="Shape 18"/>
          <p:cNvSpPr/>
          <p:nvPr/>
        </p:nvSpPr>
        <p:spPr>
          <a:xfrm>
            <a:off x="4754880" y="1664208"/>
            <a:ext cx="3977640" cy="438912"/>
          </a:xfrm>
          <a:prstGeom prst="rect">
            <a:avLst/>
          </a:prstGeom>
          <a:solidFill>
            <a:srgbClr val="1A6FBF"/>
          </a:solidFill>
          <a:ln/>
        </p:spPr>
        <p:txBody>
          <a:bodyPr/>
          <a:lstStyle/>
          <a:p>
            <a:endParaRPr lang="en-IN"/>
          </a:p>
        </p:txBody>
      </p:sp>
      <p:sp>
        <p:nvSpPr>
          <p:cNvPr id="21" name="Text 19"/>
          <p:cNvSpPr/>
          <p:nvPr/>
        </p:nvSpPr>
        <p:spPr>
          <a:xfrm>
            <a:off x="4846320" y="1682496"/>
            <a:ext cx="3794760"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DevOps Approach — What Actually Happened</a:t>
            </a:r>
            <a:endParaRPr lang="en-US" sz="1150" dirty="0"/>
          </a:p>
        </p:txBody>
      </p:sp>
      <p:sp>
        <p:nvSpPr>
          <p:cNvPr id="22" name="Text 20"/>
          <p:cNvSpPr/>
          <p:nvPr/>
        </p:nvSpPr>
        <p:spPr>
          <a:xfrm>
            <a:off x="4919472" y="2212848"/>
            <a:ext cx="3703320" cy="219456"/>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Sprint Planning (2 days)</a:t>
            </a:r>
            <a:endParaRPr lang="en-US" sz="1050" dirty="0"/>
          </a:p>
        </p:txBody>
      </p:sp>
      <p:sp>
        <p:nvSpPr>
          <p:cNvPr id="23" name="Text 21"/>
          <p:cNvSpPr/>
          <p:nvPr/>
        </p:nvSpPr>
        <p:spPr>
          <a:xfrm>
            <a:off x="4919472" y="2423160"/>
            <a:ext cx="370332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Product, Dev, and Ops aligned in one session. Story written, acceptance criteria defined, pipeline updated to include new test scenarios.</a:t>
            </a:r>
            <a:endParaRPr lang="en-US" sz="900" dirty="0"/>
          </a:p>
        </p:txBody>
      </p:sp>
      <p:sp>
        <p:nvSpPr>
          <p:cNvPr id="24" name="Text 22"/>
          <p:cNvSpPr/>
          <p:nvPr/>
        </p:nvSpPr>
        <p:spPr>
          <a:xfrm>
            <a:off x="4919472" y="2724912"/>
            <a:ext cx="3703320" cy="219456"/>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Feature Flags (week 1)</a:t>
            </a:r>
            <a:endParaRPr lang="en-US" sz="1050" dirty="0"/>
          </a:p>
        </p:txBody>
      </p:sp>
      <p:sp>
        <p:nvSpPr>
          <p:cNvPr id="25" name="Text 23"/>
          <p:cNvSpPr/>
          <p:nvPr/>
        </p:nvSpPr>
        <p:spPr>
          <a:xfrm>
            <a:off x="4919472" y="2935224"/>
            <a:ext cx="370332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Engineers built the new algorithm behind a feature flag — invisible to users, testable in production with synthetic data.</a:t>
            </a:r>
            <a:endParaRPr lang="en-US" sz="900" dirty="0"/>
          </a:p>
        </p:txBody>
      </p:sp>
      <p:sp>
        <p:nvSpPr>
          <p:cNvPr id="26" name="Text 24"/>
          <p:cNvSpPr/>
          <p:nvPr/>
        </p:nvSpPr>
        <p:spPr>
          <a:xfrm>
            <a:off x="4919472" y="3236976"/>
            <a:ext cx="3703320" cy="219456"/>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Canary Deployment (week 2)</a:t>
            </a:r>
            <a:endParaRPr lang="en-US" sz="1050" dirty="0"/>
          </a:p>
        </p:txBody>
      </p:sp>
      <p:sp>
        <p:nvSpPr>
          <p:cNvPr id="27" name="Text 25"/>
          <p:cNvSpPr/>
          <p:nvPr/>
        </p:nvSpPr>
        <p:spPr>
          <a:xfrm>
            <a:off x="4919472" y="3447288"/>
            <a:ext cx="370332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Algorithm activated for 1% of users. Real behavior monitored with Grafana. No issues. Expanded to 10%, then 25%, then 100% over 5 days.</a:t>
            </a:r>
            <a:endParaRPr lang="en-US" sz="900" dirty="0"/>
          </a:p>
        </p:txBody>
      </p:sp>
      <p:sp>
        <p:nvSpPr>
          <p:cNvPr id="28" name="Text 26"/>
          <p:cNvSpPr/>
          <p:nvPr/>
        </p:nvSpPr>
        <p:spPr>
          <a:xfrm>
            <a:off x="4919472" y="3749040"/>
            <a:ext cx="3703320" cy="219456"/>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Automated Rollback Ready</a:t>
            </a:r>
            <a:endParaRPr lang="en-US" sz="1050" dirty="0"/>
          </a:p>
        </p:txBody>
      </p:sp>
      <p:sp>
        <p:nvSpPr>
          <p:cNvPr id="29" name="Text 27"/>
          <p:cNvSpPr/>
          <p:nvPr/>
        </p:nvSpPr>
        <p:spPr>
          <a:xfrm>
            <a:off x="4919472" y="3959352"/>
            <a:ext cx="370332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If p99 latency exceeded 200ms or error rate crossed 0.5%, the pipeline was configured to automatically roll back within 90 seconds.</a:t>
            </a:r>
            <a:endParaRPr lang="en-US" sz="900" dirty="0"/>
          </a:p>
        </p:txBody>
      </p:sp>
      <p:sp>
        <p:nvSpPr>
          <p:cNvPr id="30" name="Text 28"/>
          <p:cNvSpPr/>
          <p:nvPr/>
        </p:nvSpPr>
        <p:spPr>
          <a:xfrm>
            <a:off x="4919472" y="4261104"/>
            <a:ext cx="3703320" cy="219456"/>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Outcome</a:t>
            </a:r>
            <a:endParaRPr lang="en-US" sz="1050" dirty="0"/>
          </a:p>
        </p:txBody>
      </p:sp>
      <p:sp>
        <p:nvSpPr>
          <p:cNvPr id="31" name="Text 29"/>
          <p:cNvSpPr/>
          <p:nvPr/>
        </p:nvSpPr>
        <p:spPr>
          <a:xfrm>
            <a:off x="4919472" y="4471416"/>
            <a:ext cx="3703320" cy="256032"/>
          </a:xfrm>
          <a:prstGeom prst="rect">
            <a:avLst/>
          </a:prstGeom>
          <a:noFill/>
          <a:ln/>
        </p:spPr>
        <p:txBody>
          <a:bodyPr wrap="square" lIns="0" tIns="0" rIns="0" bIns="0" rtlCol="0" anchor="ctr"/>
          <a:lstStyle/>
          <a:p>
            <a:pPr marL="0" indent="0">
              <a:buNone/>
            </a:pPr>
            <a:r>
              <a:rPr lang="en-US" sz="900" dirty="0">
                <a:solidFill>
                  <a:srgbClr val="374151"/>
                </a:solidFill>
                <a:latin typeface="Calibri" pitchFamily="34" charset="0"/>
                <a:ea typeface="Calibri" pitchFamily="34" charset="-122"/>
                <a:cs typeface="Calibri" pitchFamily="34" charset="-120"/>
              </a:rPr>
              <a:t>Total time: 11 days. Zero downtime. The new rating system outperformed the old one within a week based on user engagement data.</a:t>
            </a:r>
            <a:endParaRPr lang="en-US" sz="900" dirty="0"/>
          </a:p>
        </p:txBody>
      </p:sp>
      <p:sp>
        <p:nvSpPr>
          <p:cNvPr id="32" name="Text 30"/>
          <p:cNvSpPr/>
          <p:nvPr/>
        </p:nvSpPr>
        <p:spPr>
          <a:xfrm>
            <a:off x="411480" y="4887468"/>
            <a:ext cx="8321040" cy="256032"/>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6 months vs 11 days. Zero downtime vs 4-hour outage. The only difference was how the two teams chose to work.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Business Value of DevOps</a:t>
            </a:r>
            <a:endParaRPr lang="en-US" sz="2600" dirty="0"/>
          </a:p>
        </p:txBody>
      </p:sp>
      <p:sp>
        <p:nvSpPr>
          <p:cNvPr id="4" name="Text 2"/>
          <p:cNvSpPr/>
          <p:nvPr/>
        </p:nvSpPr>
        <p:spPr>
          <a:xfrm>
            <a:off x="411480" y="692834"/>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Why organizations invest in DevOps - measured outcomes, not promises</a:t>
            </a:r>
            <a:endParaRPr lang="en-US" sz="1200" dirty="0"/>
          </a:p>
        </p:txBody>
      </p:sp>
      <p:sp>
        <p:nvSpPr>
          <p:cNvPr id="5" name="Shape 3"/>
          <p:cNvSpPr/>
          <p:nvPr/>
        </p:nvSpPr>
        <p:spPr>
          <a:xfrm>
            <a:off x="411480" y="1070903"/>
            <a:ext cx="1938528" cy="1417320"/>
          </a:xfrm>
          <a:prstGeom prst="rect">
            <a:avLst/>
          </a:prstGeom>
          <a:solidFill>
            <a:srgbClr val="1A6FBF"/>
          </a:solidFill>
          <a:ln/>
          <a:effectLst>
            <a:outerShdw blurRad="76200" dist="25400" dir="8100000" algn="bl" rotWithShape="0">
              <a:srgbClr val="000000">
                <a:alpha val="12000"/>
              </a:srgbClr>
            </a:outerShdw>
          </a:effectLst>
        </p:spPr>
        <p:txBody>
          <a:bodyPr/>
          <a:lstStyle/>
          <a:p>
            <a:endParaRPr lang="en-IN"/>
          </a:p>
        </p:txBody>
      </p:sp>
      <p:sp>
        <p:nvSpPr>
          <p:cNvPr id="6" name="Text 4"/>
          <p:cNvSpPr/>
          <p:nvPr/>
        </p:nvSpPr>
        <p:spPr>
          <a:xfrm>
            <a:off x="502920" y="1024128"/>
            <a:ext cx="1755648" cy="658368"/>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208x</a:t>
            </a:r>
            <a:endParaRPr lang="en-US" sz="3000" dirty="0"/>
          </a:p>
        </p:txBody>
      </p:sp>
      <p:sp>
        <p:nvSpPr>
          <p:cNvPr id="7" name="Text 5"/>
          <p:cNvSpPr/>
          <p:nvPr/>
        </p:nvSpPr>
        <p:spPr>
          <a:xfrm>
            <a:off x="502920" y="1645920"/>
            <a:ext cx="1755648" cy="621792"/>
          </a:xfrm>
          <a:prstGeom prst="rect">
            <a:avLst/>
          </a:prstGeom>
          <a:noFill/>
          <a:ln/>
        </p:spPr>
        <p:txBody>
          <a:bodyPr wrap="square" lIns="0" tIns="0" rIns="0" bIns="0" rtlCol="0" anchor="ctr"/>
          <a:lstStyle/>
          <a:p>
            <a:pPr marL="0" indent="0" algn="ctr">
              <a:buNone/>
            </a:pPr>
            <a:r>
              <a:rPr lang="en-US" sz="950" dirty="0">
                <a:solidFill>
                  <a:srgbClr val="C8DCEF"/>
                </a:solidFill>
                <a:latin typeface="Calibri" pitchFamily="34" charset="0"/>
                <a:ea typeface="Calibri" pitchFamily="34" charset="-122"/>
                <a:cs typeface="Calibri" pitchFamily="34" charset="-120"/>
              </a:rPr>
              <a:t>More frequent deployments than low performers</a:t>
            </a:r>
            <a:endParaRPr lang="en-US" sz="950" dirty="0"/>
          </a:p>
        </p:txBody>
      </p:sp>
      <p:sp>
        <p:nvSpPr>
          <p:cNvPr id="8" name="Shape 6"/>
          <p:cNvSpPr/>
          <p:nvPr/>
        </p:nvSpPr>
        <p:spPr>
          <a:xfrm>
            <a:off x="2523744" y="1053318"/>
            <a:ext cx="1938528" cy="1417320"/>
          </a:xfrm>
          <a:prstGeom prst="rect">
            <a:avLst/>
          </a:prstGeom>
          <a:solidFill>
            <a:srgbClr val="1A6FBF"/>
          </a:solidFill>
          <a:ln/>
          <a:effectLst>
            <a:outerShdw blurRad="76200" dist="25400" dir="8100000" algn="bl" rotWithShape="0">
              <a:srgbClr val="000000">
                <a:alpha val="12000"/>
              </a:srgbClr>
            </a:outerShdw>
          </a:effectLst>
        </p:spPr>
        <p:txBody>
          <a:bodyPr/>
          <a:lstStyle/>
          <a:p>
            <a:endParaRPr lang="en-IN"/>
          </a:p>
        </p:txBody>
      </p:sp>
      <p:sp>
        <p:nvSpPr>
          <p:cNvPr id="9" name="Text 7"/>
          <p:cNvSpPr/>
          <p:nvPr/>
        </p:nvSpPr>
        <p:spPr>
          <a:xfrm>
            <a:off x="2615184" y="1024128"/>
            <a:ext cx="1755648" cy="658368"/>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106x</a:t>
            </a:r>
            <a:endParaRPr lang="en-US" sz="3000" dirty="0"/>
          </a:p>
        </p:txBody>
      </p:sp>
      <p:sp>
        <p:nvSpPr>
          <p:cNvPr id="10" name="Text 8"/>
          <p:cNvSpPr/>
          <p:nvPr/>
        </p:nvSpPr>
        <p:spPr>
          <a:xfrm>
            <a:off x="2615184" y="1645920"/>
            <a:ext cx="1755648" cy="621792"/>
          </a:xfrm>
          <a:prstGeom prst="rect">
            <a:avLst/>
          </a:prstGeom>
          <a:noFill/>
          <a:ln/>
        </p:spPr>
        <p:txBody>
          <a:bodyPr wrap="square" lIns="0" tIns="0" rIns="0" bIns="0" rtlCol="0" anchor="ctr"/>
          <a:lstStyle/>
          <a:p>
            <a:pPr marL="0" indent="0" algn="ctr">
              <a:buNone/>
            </a:pPr>
            <a:r>
              <a:rPr lang="en-US" sz="950" dirty="0">
                <a:solidFill>
                  <a:srgbClr val="C8DCEF"/>
                </a:solidFill>
                <a:latin typeface="Calibri" pitchFamily="34" charset="0"/>
                <a:ea typeface="Calibri" pitchFamily="34" charset="-122"/>
                <a:cs typeface="Calibri" pitchFamily="34" charset="-120"/>
              </a:rPr>
              <a:t>Faster lead time from commit to production</a:t>
            </a:r>
            <a:endParaRPr lang="en-US" sz="950" dirty="0"/>
          </a:p>
        </p:txBody>
      </p:sp>
      <p:sp>
        <p:nvSpPr>
          <p:cNvPr id="11" name="Shape 9"/>
          <p:cNvSpPr/>
          <p:nvPr/>
        </p:nvSpPr>
        <p:spPr>
          <a:xfrm>
            <a:off x="4636008" y="1042416"/>
            <a:ext cx="1938528" cy="1417320"/>
          </a:xfrm>
          <a:prstGeom prst="rect">
            <a:avLst/>
          </a:prstGeom>
          <a:solidFill>
            <a:srgbClr val="1A6FBF"/>
          </a:solidFill>
          <a:ln/>
          <a:effectLst>
            <a:outerShdw blurRad="76200" dist="25400" dir="8100000" algn="bl" rotWithShape="0">
              <a:srgbClr val="000000">
                <a:alpha val="12000"/>
              </a:srgbClr>
            </a:outerShdw>
          </a:effectLst>
        </p:spPr>
        <p:txBody>
          <a:bodyPr/>
          <a:lstStyle/>
          <a:p>
            <a:endParaRPr lang="en-IN"/>
          </a:p>
        </p:txBody>
      </p:sp>
      <p:sp>
        <p:nvSpPr>
          <p:cNvPr id="12" name="Text 10"/>
          <p:cNvSpPr/>
          <p:nvPr/>
        </p:nvSpPr>
        <p:spPr>
          <a:xfrm>
            <a:off x="4727448" y="1024128"/>
            <a:ext cx="1755648" cy="658368"/>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2,604x</a:t>
            </a:r>
            <a:endParaRPr lang="en-US" sz="3000" dirty="0"/>
          </a:p>
        </p:txBody>
      </p:sp>
      <p:sp>
        <p:nvSpPr>
          <p:cNvPr id="13" name="Text 11"/>
          <p:cNvSpPr/>
          <p:nvPr/>
        </p:nvSpPr>
        <p:spPr>
          <a:xfrm>
            <a:off x="4727448" y="1645920"/>
            <a:ext cx="1755648" cy="621792"/>
          </a:xfrm>
          <a:prstGeom prst="rect">
            <a:avLst/>
          </a:prstGeom>
          <a:noFill/>
          <a:ln/>
        </p:spPr>
        <p:txBody>
          <a:bodyPr wrap="square" lIns="0" tIns="0" rIns="0" bIns="0" rtlCol="0" anchor="ctr"/>
          <a:lstStyle/>
          <a:p>
            <a:pPr marL="0" indent="0" algn="ctr">
              <a:buNone/>
            </a:pPr>
            <a:r>
              <a:rPr lang="en-US" sz="950" dirty="0">
                <a:solidFill>
                  <a:srgbClr val="C8DCEF"/>
                </a:solidFill>
                <a:latin typeface="Calibri" pitchFamily="34" charset="0"/>
                <a:ea typeface="Calibri" pitchFamily="34" charset="-122"/>
                <a:cs typeface="Calibri" pitchFamily="34" charset="-120"/>
              </a:rPr>
              <a:t>Faster mean time to restore after failure</a:t>
            </a:r>
            <a:endParaRPr lang="en-US" sz="950" dirty="0"/>
          </a:p>
        </p:txBody>
      </p:sp>
      <p:sp>
        <p:nvSpPr>
          <p:cNvPr id="14" name="Shape 12"/>
          <p:cNvSpPr/>
          <p:nvPr/>
        </p:nvSpPr>
        <p:spPr>
          <a:xfrm>
            <a:off x="6748272" y="1024128"/>
            <a:ext cx="1938528" cy="1417320"/>
          </a:xfrm>
          <a:prstGeom prst="rect">
            <a:avLst/>
          </a:prstGeom>
          <a:solidFill>
            <a:srgbClr val="1A6FBF"/>
          </a:solidFill>
          <a:ln/>
          <a:effectLst>
            <a:outerShdw blurRad="76200" dist="25400" dir="8100000" algn="bl" rotWithShape="0">
              <a:srgbClr val="000000">
                <a:alpha val="12000"/>
              </a:srgbClr>
            </a:outerShdw>
          </a:effectLst>
        </p:spPr>
        <p:txBody>
          <a:bodyPr/>
          <a:lstStyle/>
          <a:p>
            <a:endParaRPr lang="en-IN"/>
          </a:p>
        </p:txBody>
      </p:sp>
      <p:sp>
        <p:nvSpPr>
          <p:cNvPr id="15" name="Text 13"/>
          <p:cNvSpPr/>
          <p:nvPr/>
        </p:nvSpPr>
        <p:spPr>
          <a:xfrm>
            <a:off x="6839712" y="1024128"/>
            <a:ext cx="1755648" cy="658368"/>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7x</a:t>
            </a:r>
            <a:endParaRPr lang="en-US" sz="3000" dirty="0"/>
          </a:p>
        </p:txBody>
      </p:sp>
      <p:sp>
        <p:nvSpPr>
          <p:cNvPr id="16" name="Text 14"/>
          <p:cNvSpPr/>
          <p:nvPr/>
        </p:nvSpPr>
        <p:spPr>
          <a:xfrm>
            <a:off x="6839712" y="1645920"/>
            <a:ext cx="1755648" cy="621792"/>
          </a:xfrm>
          <a:prstGeom prst="rect">
            <a:avLst/>
          </a:prstGeom>
          <a:noFill/>
          <a:ln/>
        </p:spPr>
        <p:txBody>
          <a:bodyPr wrap="square" lIns="0" tIns="0" rIns="0" bIns="0" rtlCol="0" anchor="ctr"/>
          <a:lstStyle/>
          <a:p>
            <a:pPr marL="0" indent="0" algn="ctr">
              <a:buNone/>
            </a:pPr>
            <a:r>
              <a:rPr lang="en-US" sz="950" dirty="0">
                <a:solidFill>
                  <a:srgbClr val="C8DCEF"/>
                </a:solidFill>
                <a:latin typeface="Calibri" pitchFamily="34" charset="0"/>
                <a:ea typeface="Calibri" pitchFamily="34" charset="-122"/>
                <a:cs typeface="Calibri" pitchFamily="34" charset="-120"/>
              </a:rPr>
              <a:t>Lower change failure rate in production</a:t>
            </a:r>
            <a:endParaRPr lang="en-US" sz="950" dirty="0"/>
          </a:p>
        </p:txBody>
      </p:sp>
      <p:sp>
        <p:nvSpPr>
          <p:cNvPr id="17" name="Text 15"/>
          <p:cNvSpPr/>
          <p:nvPr/>
        </p:nvSpPr>
        <p:spPr>
          <a:xfrm>
            <a:off x="411480" y="2496312"/>
            <a:ext cx="8321040" cy="256032"/>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Source: DORA State of DevOps Report - based on over 32,000 survey responses from engineering professionals globally.</a:t>
            </a:r>
            <a:endParaRPr lang="en-US" sz="900" dirty="0"/>
          </a:p>
        </p:txBody>
      </p:sp>
      <p:sp>
        <p:nvSpPr>
          <p:cNvPr id="18" name="Shape 16"/>
          <p:cNvSpPr/>
          <p:nvPr/>
        </p:nvSpPr>
        <p:spPr>
          <a:xfrm>
            <a:off x="411480" y="2788920"/>
            <a:ext cx="1938528" cy="210312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9" name="Shape 17"/>
          <p:cNvSpPr/>
          <p:nvPr/>
        </p:nvSpPr>
        <p:spPr>
          <a:xfrm>
            <a:off x="411480" y="2788920"/>
            <a:ext cx="1938528" cy="54864"/>
          </a:xfrm>
          <a:prstGeom prst="rect">
            <a:avLst/>
          </a:prstGeom>
          <a:solidFill>
            <a:srgbClr val="2D9CDB"/>
          </a:solidFill>
          <a:ln/>
        </p:spPr>
        <p:txBody>
          <a:bodyPr/>
          <a:lstStyle/>
          <a:p>
            <a:endParaRPr lang="en-IN"/>
          </a:p>
        </p:txBody>
      </p:sp>
      <p:sp>
        <p:nvSpPr>
          <p:cNvPr id="20" name="Text 18"/>
          <p:cNvSpPr/>
          <p:nvPr/>
        </p:nvSpPr>
        <p:spPr>
          <a:xfrm>
            <a:off x="502920" y="2889504"/>
            <a:ext cx="1755648" cy="34747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Speed to Market</a:t>
            </a:r>
            <a:endParaRPr lang="en-US" sz="1200" dirty="0"/>
          </a:p>
        </p:txBody>
      </p:sp>
      <p:sp>
        <p:nvSpPr>
          <p:cNvPr id="21" name="Text 19"/>
          <p:cNvSpPr/>
          <p:nvPr/>
        </p:nvSpPr>
        <p:spPr>
          <a:xfrm>
            <a:off x="502920" y="3246120"/>
            <a:ext cx="1755648" cy="153619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CI/CD pipelines compress weeks of manual work into hours. Competitive advantage comes from shipping a tested feature before a competitor ships anything.</a:t>
            </a:r>
            <a:endParaRPr lang="en-US" sz="950" dirty="0"/>
          </a:p>
        </p:txBody>
      </p:sp>
      <p:sp>
        <p:nvSpPr>
          <p:cNvPr id="22" name="Shape 20"/>
          <p:cNvSpPr/>
          <p:nvPr/>
        </p:nvSpPr>
        <p:spPr>
          <a:xfrm>
            <a:off x="2523744" y="2788920"/>
            <a:ext cx="1938528" cy="210312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3" name="Shape 21"/>
          <p:cNvSpPr/>
          <p:nvPr/>
        </p:nvSpPr>
        <p:spPr>
          <a:xfrm>
            <a:off x="2523744" y="2788920"/>
            <a:ext cx="1938528" cy="54864"/>
          </a:xfrm>
          <a:prstGeom prst="rect">
            <a:avLst/>
          </a:prstGeom>
          <a:solidFill>
            <a:srgbClr val="2D9CDB"/>
          </a:solidFill>
          <a:ln/>
        </p:spPr>
        <p:txBody>
          <a:bodyPr/>
          <a:lstStyle/>
          <a:p>
            <a:endParaRPr lang="en-IN"/>
          </a:p>
        </p:txBody>
      </p:sp>
      <p:sp>
        <p:nvSpPr>
          <p:cNvPr id="24" name="Text 22"/>
          <p:cNvSpPr/>
          <p:nvPr/>
        </p:nvSpPr>
        <p:spPr>
          <a:xfrm>
            <a:off x="2615184" y="2889504"/>
            <a:ext cx="1755648" cy="34747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Improved Reliability</a:t>
            </a:r>
            <a:endParaRPr lang="en-US" sz="1200" dirty="0"/>
          </a:p>
        </p:txBody>
      </p:sp>
      <p:sp>
        <p:nvSpPr>
          <p:cNvPr id="25" name="Text 23"/>
          <p:cNvSpPr/>
          <p:nvPr/>
        </p:nvSpPr>
        <p:spPr>
          <a:xfrm>
            <a:off x="2615184" y="3246120"/>
            <a:ext cx="1755648" cy="153619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Smaller, frequent changes are less risky than large quarterly releases. Automated rollbacks mean failures are fixed in minutes, not hours.</a:t>
            </a:r>
            <a:endParaRPr lang="en-US" sz="950" dirty="0"/>
          </a:p>
        </p:txBody>
      </p:sp>
      <p:sp>
        <p:nvSpPr>
          <p:cNvPr id="26" name="Shape 24"/>
          <p:cNvSpPr/>
          <p:nvPr/>
        </p:nvSpPr>
        <p:spPr>
          <a:xfrm>
            <a:off x="4636008" y="2788920"/>
            <a:ext cx="1938528" cy="210312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7" name="Shape 25"/>
          <p:cNvSpPr/>
          <p:nvPr/>
        </p:nvSpPr>
        <p:spPr>
          <a:xfrm>
            <a:off x="4636008" y="2788920"/>
            <a:ext cx="1938528" cy="54864"/>
          </a:xfrm>
          <a:prstGeom prst="rect">
            <a:avLst/>
          </a:prstGeom>
          <a:solidFill>
            <a:srgbClr val="2D9CDB"/>
          </a:solidFill>
          <a:ln/>
        </p:spPr>
        <p:txBody>
          <a:bodyPr/>
          <a:lstStyle/>
          <a:p>
            <a:endParaRPr lang="en-IN"/>
          </a:p>
        </p:txBody>
      </p:sp>
      <p:sp>
        <p:nvSpPr>
          <p:cNvPr id="28" name="Text 26"/>
          <p:cNvSpPr/>
          <p:nvPr/>
        </p:nvSpPr>
        <p:spPr>
          <a:xfrm>
            <a:off x="4727448" y="2889504"/>
            <a:ext cx="1755648" cy="34747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Developer Productivity</a:t>
            </a:r>
            <a:endParaRPr lang="en-US" sz="1200" dirty="0"/>
          </a:p>
        </p:txBody>
      </p:sp>
      <p:sp>
        <p:nvSpPr>
          <p:cNvPr id="29" name="Text 27"/>
          <p:cNvSpPr/>
          <p:nvPr/>
        </p:nvSpPr>
        <p:spPr>
          <a:xfrm>
            <a:off x="4727448" y="3246120"/>
            <a:ext cx="1755648" cy="153619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Automated pipelines remove toil. Engineers spend time solving problems rather than manually configuring environments or waiting for QA sign-off.</a:t>
            </a:r>
            <a:endParaRPr lang="en-US" sz="950" dirty="0"/>
          </a:p>
        </p:txBody>
      </p:sp>
      <p:sp>
        <p:nvSpPr>
          <p:cNvPr id="30" name="Shape 28"/>
          <p:cNvSpPr/>
          <p:nvPr/>
        </p:nvSpPr>
        <p:spPr>
          <a:xfrm>
            <a:off x="6748272" y="2788920"/>
            <a:ext cx="1938528" cy="2103120"/>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31" name="Shape 29"/>
          <p:cNvSpPr/>
          <p:nvPr/>
        </p:nvSpPr>
        <p:spPr>
          <a:xfrm>
            <a:off x="6748272" y="2788920"/>
            <a:ext cx="1938528" cy="54864"/>
          </a:xfrm>
          <a:prstGeom prst="rect">
            <a:avLst/>
          </a:prstGeom>
          <a:solidFill>
            <a:srgbClr val="2D9CDB"/>
          </a:solidFill>
          <a:ln/>
        </p:spPr>
        <p:txBody>
          <a:bodyPr/>
          <a:lstStyle/>
          <a:p>
            <a:endParaRPr lang="en-IN"/>
          </a:p>
        </p:txBody>
      </p:sp>
      <p:sp>
        <p:nvSpPr>
          <p:cNvPr id="32" name="Text 30"/>
          <p:cNvSpPr/>
          <p:nvPr/>
        </p:nvSpPr>
        <p:spPr>
          <a:xfrm>
            <a:off x="6839712" y="2889504"/>
            <a:ext cx="1755648" cy="347472"/>
          </a:xfrm>
          <a:prstGeom prst="rect">
            <a:avLst/>
          </a:prstGeom>
          <a:noFill/>
          <a:ln/>
        </p:spPr>
        <p:txBody>
          <a:bodyPr wrap="square" lIns="0" tIns="0" rIns="0" bIns="0" rtlCol="0" anchor="ctr"/>
          <a:lstStyle/>
          <a:p>
            <a:pPr marL="0" indent="0">
              <a:buNone/>
            </a:pPr>
            <a:r>
              <a:rPr lang="en-US" sz="1200" b="1" dirty="0">
                <a:solidFill>
                  <a:srgbClr val="0F4C8A"/>
                </a:solidFill>
                <a:latin typeface="Calibri" pitchFamily="34" charset="0"/>
                <a:ea typeface="Calibri" pitchFamily="34" charset="-122"/>
                <a:cs typeface="Calibri" pitchFamily="34" charset="-120"/>
              </a:rPr>
              <a:t>Customer Satisfaction</a:t>
            </a:r>
            <a:endParaRPr lang="en-US" sz="1200" dirty="0"/>
          </a:p>
        </p:txBody>
      </p:sp>
      <p:sp>
        <p:nvSpPr>
          <p:cNvPr id="33" name="Text 31"/>
          <p:cNvSpPr/>
          <p:nvPr/>
        </p:nvSpPr>
        <p:spPr>
          <a:xfrm>
            <a:off x="6839712" y="3246120"/>
            <a:ext cx="1755648" cy="153619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Faster iteration means customer feedback gets incorporated in days. Products improve continuously rather than waiting for the next annual release.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DevOps Across the Industry - Who Does It and How</a:t>
            </a:r>
            <a:endParaRPr lang="en-US" sz="2600" dirty="0"/>
          </a:p>
        </p:txBody>
      </p:sp>
      <p:sp>
        <p:nvSpPr>
          <p:cNvPr id="4" name="Text 2"/>
          <p:cNvSpPr/>
          <p:nvPr/>
        </p:nvSpPr>
        <p:spPr>
          <a:xfrm>
            <a:off x="411480" y="713232"/>
            <a:ext cx="832104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Real adoption patterns from organizations at different stages of DevOps maturity</a:t>
            </a:r>
            <a:endParaRPr lang="en-US" sz="1200" dirty="0"/>
          </a:p>
        </p:txBody>
      </p:sp>
      <p:sp>
        <p:nvSpPr>
          <p:cNvPr id="5" name="Shape 3"/>
          <p:cNvSpPr/>
          <p:nvPr/>
        </p:nvSpPr>
        <p:spPr>
          <a:xfrm>
            <a:off x="411480" y="1051560"/>
            <a:ext cx="832104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6" name="Shape 4"/>
          <p:cNvSpPr/>
          <p:nvPr/>
        </p:nvSpPr>
        <p:spPr>
          <a:xfrm>
            <a:off x="411480" y="1051560"/>
            <a:ext cx="54864" cy="1170432"/>
          </a:xfrm>
          <a:prstGeom prst="rect">
            <a:avLst/>
          </a:prstGeom>
          <a:solidFill>
            <a:srgbClr val="1A6FBF"/>
          </a:solidFill>
          <a:ln/>
        </p:spPr>
        <p:txBody>
          <a:bodyPr/>
          <a:lstStyle/>
          <a:p>
            <a:endParaRPr lang="en-IN"/>
          </a:p>
        </p:txBody>
      </p:sp>
      <p:sp>
        <p:nvSpPr>
          <p:cNvPr id="7" name="Shape 5"/>
          <p:cNvSpPr/>
          <p:nvPr/>
        </p:nvSpPr>
        <p:spPr>
          <a:xfrm>
            <a:off x="7863840" y="1143000"/>
            <a:ext cx="777240" cy="274320"/>
          </a:xfrm>
          <a:prstGeom prst="rect">
            <a:avLst/>
          </a:prstGeom>
          <a:solidFill>
            <a:srgbClr val="27AE60"/>
          </a:solidFill>
          <a:ln/>
        </p:spPr>
        <p:txBody>
          <a:bodyPr/>
          <a:lstStyle/>
          <a:p>
            <a:endParaRPr lang="en-IN"/>
          </a:p>
        </p:txBody>
      </p:sp>
      <p:sp>
        <p:nvSpPr>
          <p:cNvPr id="8" name="Text 6"/>
          <p:cNvSpPr/>
          <p:nvPr/>
        </p:nvSpPr>
        <p:spPr>
          <a:xfrm>
            <a:off x="7863840" y="1143000"/>
            <a:ext cx="7772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Advanced</a:t>
            </a:r>
            <a:endParaRPr lang="en-US" sz="900" dirty="0"/>
          </a:p>
        </p:txBody>
      </p:sp>
      <p:sp>
        <p:nvSpPr>
          <p:cNvPr id="9" name="Text 7"/>
          <p:cNvSpPr/>
          <p:nvPr/>
        </p:nvSpPr>
        <p:spPr>
          <a:xfrm>
            <a:off x="594360" y="1124712"/>
            <a:ext cx="2286000" cy="347472"/>
          </a:xfrm>
          <a:prstGeom prst="rect">
            <a:avLst/>
          </a:prstGeom>
          <a:noFill/>
          <a:ln/>
        </p:spPr>
        <p:txBody>
          <a:bodyPr wrap="square" lIns="0" tIns="0" rIns="0" bIns="0" rtlCol="0" anchor="ctr"/>
          <a:lstStyle/>
          <a:p>
            <a:pPr marL="0" indent="0">
              <a:buNone/>
            </a:pPr>
            <a:r>
              <a:rPr lang="en-US" sz="1800" b="1" dirty="0">
                <a:solidFill>
                  <a:srgbClr val="0F4C8A"/>
                </a:solidFill>
                <a:latin typeface="Calibri" pitchFamily="34" charset="0"/>
                <a:ea typeface="Calibri" pitchFamily="34" charset="-122"/>
                <a:cs typeface="Calibri" pitchFamily="34" charset="-120"/>
              </a:rPr>
              <a:t>Amazon</a:t>
            </a:r>
            <a:endParaRPr lang="en-US" sz="1800" dirty="0"/>
          </a:p>
        </p:txBody>
      </p:sp>
      <p:sp>
        <p:nvSpPr>
          <p:cNvPr id="10" name="Text 8"/>
          <p:cNvSpPr/>
          <p:nvPr/>
        </p:nvSpPr>
        <p:spPr>
          <a:xfrm>
            <a:off x="594360" y="1453896"/>
            <a:ext cx="7498080" cy="256032"/>
          </a:xfrm>
          <a:prstGeom prst="rect">
            <a:avLst/>
          </a:prstGeom>
          <a:noFill/>
          <a:ln/>
        </p:spPr>
        <p:txBody>
          <a:bodyPr wrap="square" lIns="0" tIns="0" rIns="0" bIns="0" rtlCol="0" anchor="ctr"/>
          <a:lstStyle/>
          <a:p>
            <a:pPr marL="0" indent="0">
              <a:buNone/>
            </a:pPr>
            <a:r>
              <a:rPr lang="en-US" sz="1100" dirty="0">
                <a:solidFill>
                  <a:srgbClr val="2D9CDB"/>
                </a:solidFill>
                <a:latin typeface="Calibri" pitchFamily="34" charset="0"/>
                <a:ea typeface="Calibri" pitchFamily="34" charset="-122"/>
                <a:cs typeface="Calibri" pitchFamily="34" charset="-120"/>
              </a:rPr>
              <a:t>Deploys to production every 11.7 seconds on average</a:t>
            </a:r>
            <a:endParaRPr lang="en-US" sz="1100" dirty="0"/>
          </a:p>
        </p:txBody>
      </p:sp>
      <p:sp>
        <p:nvSpPr>
          <p:cNvPr id="11" name="Text 9"/>
          <p:cNvSpPr/>
          <p:nvPr/>
        </p:nvSpPr>
        <p:spPr>
          <a:xfrm>
            <a:off x="594360" y="1719072"/>
            <a:ext cx="7498080" cy="4114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Thousands of small autonomous services (microservices), each owned by a two-pizza team. Fully automated pipelines. No release windows — any engineer can ship any time.</a:t>
            </a:r>
            <a:endParaRPr lang="en-US" sz="1000" dirty="0"/>
          </a:p>
        </p:txBody>
      </p:sp>
      <p:sp>
        <p:nvSpPr>
          <p:cNvPr id="12" name="Shape 10"/>
          <p:cNvSpPr/>
          <p:nvPr/>
        </p:nvSpPr>
        <p:spPr>
          <a:xfrm>
            <a:off x="411480" y="2350008"/>
            <a:ext cx="832104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3" name="Shape 11"/>
          <p:cNvSpPr/>
          <p:nvPr/>
        </p:nvSpPr>
        <p:spPr>
          <a:xfrm>
            <a:off x="411480" y="2350008"/>
            <a:ext cx="54864" cy="1170432"/>
          </a:xfrm>
          <a:prstGeom prst="rect">
            <a:avLst/>
          </a:prstGeom>
          <a:solidFill>
            <a:srgbClr val="1A6FBF"/>
          </a:solidFill>
          <a:ln/>
        </p:spPr>
        <p:txBody>
          <a:bodyPr/>
          <a:lstStyle/>
          <a:p>
            <a:endParaRPr lang="en-IN"/>
          </a:p>
        </p:txBody>
      </p:sp>
      <p:sp>
        <p:nvSpPr>
          <p:cNvPr id="14" name="Shape 12"/>
          <p:cNvSpPr/>
          <p:nvPr/>
        </p:nvSpPr>
        <p:spPr>
          <a:xfrm>
            <a:off x="7863840" y="2441448"/>
            <a:ext cx="777240" cy="274320"/>
          </a:xfrm>
          <a:prstGeom prst="rect">
            <a:avLst/>
          </a:prstGeom>
          <a:solidFill>
            <a:srgbClr val="27AE60"/>
          </a:solidFill>
          <a:ln/>
        </p:spPr>
        <p:txBody>
          <a:bodyPr/>
          <a:lstStyle/>
          <a:p>
            <a:endParaRPr lang="en-IN"/>
          </a:p>
        </p:txBody>
      </p:sp>
      <p:sp>
        <p:nvSpPr>
          <p:cNvPr id="15" name="Text 13"/>
          <p:cNvSpPr/>
          <p:nvPr/>
        </p:nvSpPr>
        <p:spPr>
          <a:xfrm>
            <a:off x="7863840" y="2441448"/>
            <a:ext cx="7772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Advanced</a:t>
            </a:r>
            <a:endParaRPr lang="en-US" sz="900" dirty="0"/>
          </a:p>
        </p:txBody>
      </p:sp>
      <p:sp>
        <p:nvSpPr>
          <p:cNvPr id="16" name="Text 14"/>
          <p:cNvSpPr/>
          <p:nvPr/>
        </p:nvSpPr>
        <p:spPr>
          <a:xfrm>
            <a:off x="594360" y="2423160"/>
            <a:ext cx="2286000" cy="347472"/>
          </a:xfrm>
          <a:prstGeom prst="rect">
            <a:avLst/>
          </a:prstGeom>
          <a:noFill/>
          <a:ln/>
        </p:spPr>
        <p:txBody>
          <a:bodyPr wrap="square" lIns="0" tIns="0" rIns="0" bIns="0" rtlCol="0" anchor="ctr"/>
          <a:lstStyle/>
          <a:p>
            <a:pPr marL="0" indent="0">
              <a:buNone/>
            </a:pPr>
            <a:r>
              <a:rPr lang="en-US" sz="1800" b="1" dirty="0">
                <a:solidFill>
                  <a:srgbClr val="0F4C8A"/>
                </a:solidFill>
                <a:latin typeface="Calibri" pitchFamily="34" charset="0"/>
                <a:ea typeface="Calibri" pitchFamily="34" charset="-122"/>
                <a:cs typeface="Calibri" pitchFamily="34" charset="-120"/>
              </a:rPr>
              <a:t>Netflix</a:t>
            </a:r>
            <a:endParaRPr lang="en-US" sz="1800" dirty="0"/>
          </a:p>
        </p:txBody>
      </p:sp>
      <p:sp>
        <p:nvSpPr>
          <p:cNvPr id="17" name="Text 15"/>
          <p:cNvSpPr/>
          <p:nvPr/>
        </p:nvSpPr>
        <p:spPr>
          <a:xfrm>
            <a:off x="594360" y="2752344"/>
            <a:ext cx="7498080" cy="256032"/>
          </a:xfrm>
          <a:prstGeom prst="rect">
            <a:avLst/>
          </a:prstGeom>
          <a:noFill/>
          <a:ln/>
        </p:spPr>
        <p:txBody>
          <a:bodyPr wrap="square" lIns="0" tIns="0" rIns="0" bIns="0" rtlCol="0" anchor="ctr"/>
          <a:lstStyle/>
          <a:p>
            <a:pPr marL="0" indent="0">
              <a:buNone/>
            </a:pPr>
            <a:r>
              <a:rPr lang="en-US" sz="1100" dirty="0">
                <a:solidFill>
                  <a:srgbClr val="2D9CDB"/>
                </a:solidFill>
                <a:latin typeface="Calibri" pitchFamily="34" charset="0"/>
                <a:ea typeface="Calibri" pitchFamily="34" charset="-122"/>
                <a:cs typeface="Calibri" pitchFamily="34" charset="-120"/>
              </a:rPr>
              <a:t>Runs 700+ microservices, deploys hundreds of times daily</a:t>
            </a:r>
            <a:endParaRPr lang="en-US" sz="1100" dirty="0"/>
          </a:p>
        </p:txBody>
      </p:sp>
      <p:sp>
        <p:nvSpPr>
          <p:cNvPr id="18" name="Text 16"/>
          <p:cNvSpPr/>
          <p:nvPr/>
        </p:nvSpPr>
        <p:spPr>
          <a:xfrm>
            <a:off x="594360" y="3017520"/>
            <a:ext cx="7498080" cy="4114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Pioneered chaos engineering — deliberately injecting failures in production to test resilience. Feature flags allow A/B testing on millions of users simultaneously.</a:t>
            </a:r>
            <a:endParaRPr lang="en-US" sz="1000" dirty="0"/>
          </a:p>
        </p:txBody>
      </p:sp>
      <p:sp>
        <p:nvSpPr>
          <p:cNvPr id="19" name="Shape 17"/>
          <p:cNvSpPr/>
          <p:nvPr/>
        </p:nvSpPr>
        <p:spPr>
          <a:xfrm>
            <a:off x="411480" y="3648456"/>
            <a:ext cx="8321040" cy="117043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0" name="Shape 18"/>
          <p:cNvSpPr/>
          <p:nvPr/>
        </p:nvSpPr>
        <p:spPr>
          <a:xfrm>
            <a:off x="411480" y="3648456"/>
            <a:ext cx="54864" cy="1170432"/>
          </a:xfrm>
          <a:prstGeom prst="rect">
            <a:avLst/>
          </a:prstGeom>
          <a:solidFill>
            <a:srgbClr val="1A6FBF"/>
          </a:solidFill>
          <a:ln/>
        </p:spPr>
        <p:txBody>
          <a:bodyPr/>
          <a:lstStyle/>
          <a:p>
            <a:endParaRPr lang="en-IN"/>
          </a:p>
        </p:txBody>
      </p:sp>
      <p:sp>
        <p:nvSpPr>
          <p:cNvPr id="21" name="Shape 19"/>
          <p:cNvSpPr/>
          <p:nvPr/>
        </p:nvSpPr>
        <p:spPr>
          <a:xfrm>
            <a:off x="7863840" y="3739896"/>
            <a:ext cx="777240" cy="274320"/>
          </a:xfrm>
          <a:prstGeom prst="rect">
            <a:avLst/>
          </a:prstGeom>
          <a:solidFill>
            <a:srgbClr val="27AE60"/>
          </a:solidFill>
          <a:ln/>
        </p:spPr>
        <p:txBody>
          <a:bodyPr/>
          <a:lstStyle/>
          <a:p>
            <a:endParaRPr lang="en-IN"/>
          </a:p>
        </p:txBody>
      </p:sp>
      <p:sp>
        <p:nvSpPr>
          <p:cNvPr id="22" name="Text 20"/>
          <p:cNvSpPr/>
          <p:nvPr/>
        </p:nvSpPr>
        <p:spPr>
          <a:xfrm>
            <a:off x="7863840" y="3739896"/>
            <a:ext cx="7772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Advanced</a:t>
            </a:r>
            <a:endParaRPr lang="en-US" sz="900" dirty="0"/>
          </a:p>
        </p:txBody>
      </p:sp>
      <p:sp>
        <p:nvSpPr>
          <p:cNvPr id="23" name="Text 21"/>
          <p:cNvSpPr/>
          <p:nvPr/>
        </p:nvSpPr>
        <p:spPr>
          <a:xfrm>
            <a:off x="594360" y="3721608"/>
            <a:ext cx="2286000" cy="347472"/>
          </a:xfrm>
          <a:prstGeom prst="rect">
            <a:avLst/>
          </a:prstGeom>
          <a:noFill/>
          <a:ln/>
        </p:spPr>
        <p:txBody>
          <a:bodyPr wrap="square" lIns="0" tIns="0" rIns="0" bIns="0" rtlCol="0" anchor="ctr"/>
          <a:lstStyle/>
          <a:p>
            <a:pPr marL="0" indent="0">
              <a:buNone/>
            </a:pPr>
            <a:r>
              <a:rPr lang="en-US" sz="1800" b="1" dirty="0">
                <a:solidFill>
                  <a:srgbClr val="0F4C8A"/>
                </a:solidFill>
                <a:latin typeface="Calibri" pitchFamily="34" charset="0"/>
                <a:ea typeface="Calibri" pitchFamily="34" charset="-122"/>
                <a:cs typeface="Calibri" pitchFamily="34" charset="-120"/>
              </a:rPr>
              <a:t>Flipkart</a:t>
            </a:r>
            <a:endParaRPr lang="en-US" sz="1800" dirty="0"/>
          </a:p>
        </p:txBody>
      </p:sp>
      <p:sp>
        <p:nvSpPr>
          <p:cNvPr id="24" name="Text 22"/>
          <p:cNvSpPr/>
          <p:nvPr/>
        </p:nvSpPr>
        <p:spPr>
          <a:xfrm>
            <a:off x="594360" y="4050792"/>
            <a:ext cx="7498080" cy="256032"/>
          </a:xfrm>
          <a:prstGeom prst="rect">
            <a:avLst/>
          </a:prstGeom>
          <a:noFill/>
          <a:ln/>
        </p:spPr>
        <p:txBody>
          <a:bodyPr wrap="square" lIns="0" tIns="0" rIns="0" bIns="0" rtlCol="0" anchor="ctr"/>
          <a:lstStyle/>
          <a:p>
            <a:pPr marL="0" indent="0">
              <a:buNone/>
            </a:pPr>
            <a:r>
              <a:rPr lang="en-US" sz="1100" dirty="0">
                <a:solidFill>
                  <a:srgbClr val="2D9CDB"/>
                </a:solidFill>
                <a:latin typeface="Calibri" pitchFamily="34" charset="0"/>
                <a:ea typeface="Calibri" pitchFamily="34" charset="-122"/>
                <a:cs typeface="Calibri" pitchFamily="34" charset="-120"/>
              </a:rPr>
              <a:t>Handles 8 million+ orders during Big Billion Days</a:t>
            </a:r>
            <a:endParaRPr lang="en-US" sz="1100" dirty="0"/>
          </a:p>
        </p:txBody>
      </p:sp>
      <p:sp>
        <p:nvSpPr>
          <p:cNvPr id="25" name="Text 23"/>
          <p:cNvSpPr/>
          <p:nvPr/>
        </p:nvSpPr>
        <p:spPr>
          <a:xfrm>
            <a:off x="594360" y="4315968"/>
            <a:ext cx="7498080" cy="4114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Uses CI/CD pipelines with automated load testing integrated. Canary deployments prevent full-scale failures during peak traffic events. Observability is mandatory.</a:t>
            </a:r>
            <a:endParaRPr lang="en-US" sz="1000" dirty="0"/>
          </a:p>
        </p:txBody>
      </p:sp>
      <p:sp>
        <p:nvSpPr>
          <p:cNvPr id="26" name="Text 24"/>
          <p:cNvSpPr/>
          <p:nvPr/>
        </p:nvSpPr>
        <p:spPr>
          <a:xfrm>
            <a:off x="411480" y="4863201"/>
            <a:ext cx="8321040" cy="256032"/>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DevOps maturity is not binary. Organizations begin by automating one pipeline stage and progressively extend coverage as confidence grows.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Team Contributions</a:t>
            </a:r>
            <a:endParaRPr lang="en-US" sz="2600" dirty="0"/>
          </a:p>
        </p:txBody>
      </p:sp>
      <p:sp>
        <p:nvSpPr>
          <p:cNvPr id="4" name="Shape 2"/>
          <p:cNvSpPr/>
          <p:nvPr/>
        </p:nvSpPr>
        <p:spPr>
          <a:xfrm>
            <a:off x="411480" y="1005840"/>
            <a:ext cx="4023360" cy="153619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5" name="Shape 3"/>
          <p:cNvSpPr/>
          <p:nvPr/>
        </p:nvSpPr>
        <p:spPr>
          <a:xfrm>
            <a:off x="594360" y="1435608"/>
            <a:ext cx="713232" cy="713232"/>
          </a:xfrm>
          <a:prstGeom prst="ellipse">
            <a:avLst/>
          </a:prstGeom>
          <a:solidFill>
            <a:srgbClr val="1A6FBF"/>
          </a:solidFill>
          <a:ln/>
        </p:spPr>
        <p:txBody>
          <a:bodyPr/>
          <a:lstStyle/>
          <a:p>
            <a:endParaRPr lang="en-IN"/>
          </a:p>
        </p:txBody>
      </p:sp>
      <p:sp>
        <p:nvSpPr>
          <p:cNvPr id="6" name="Text 4"/>
          <p:cNvSpPr/>
          <p:nvPr/>
        </p:nvSpPr>
        <p:spPr>
          <a:xfrm>
            <a:off x="594360" y="1435608"/>
            <a:ext cx="713232"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435608" y="1170432"/>
            <a:ext cx="2834640" cy="347472"/>
          </a:xfrm>
          <a:prstGeom prst="rect">
            <a:avLst/>
          </a:prstGeom>
          <a:noFill/>
          <a:ln/>
        </p:spPr>
        <p:txBody>
          <a:bodyPr wrap="square" lIns="0" tIns="0" rIns="0" bIns="0" rtlCol="0" anchor="ctr"/>
          <a:lstStyle/>
          <a:p>
            <a:pPr marL="0" indent="0">
              <a:buNone/>
            </a:pPr>
            <a:r>
              <a:rPr lang="en-US" sz="1500" b="1" dirty="0">
                <a:solidFill>
                  <a:srgbClr val="0F4C8A"/>
                </a:solidFill>
                <a:latin typeface="Calibri" pitchFamily="34" charset="0"/>
                <a:ea typeface="Calibri" pitchFamily="34" charset="-122"/>
                <a:cs typeface="Calibri" pitchFamily="34" charset="-120"/>
              </a:rPr>
              <a:t>Member 1</a:t>
            </a:r>
            <a:endParaRPr lang="en-US" sz="1500" dirty="0"/>
          </a:p>
        </p:txBody>
      </p:sp>
      <p:sp>
        <p:nvSpPr>
          <p:cNvPr id="8" name="Text 6"/>
          <p:cNvSpPr/>
          <p:nvPr/>
        </p:nvSpPr>
        <p:spPr>
          <a:xfrm>
            <a:off x="1435608" y="1499616"/>
            <a:ext cx="2834640" cy="256032"/>
          </a:xfrm>
          <a:prstGeom prst="rect">
            <a:avLst/>
          </a:prstGeom>
          <a:noFill/>
          <a:ln/>
        </p:spPr>
        <p:txBody>
          <a:bodyPr wrap="square" lIns="0" tIns="0" rIns="0" bIns="0" rtlCol="0" anchor="ctr"/>
          <a:lstStyle/>
          <a:p>
            <a:pPr marL="0" indent="0">
              <a:buNone/>
            </a:pPr>
            <a:r>
              <a:rPr lang="en-US" sz="1100" dirty="0">
                <a:solidFill>
                  <a:srgbClr val="2D9CDB"/>
                </a:solidFill>
                <a:latin typeface="Calibri" pitchFamily="34" charset="0"/>
                <a:ea typeface="Calibri" pitchFamily="34" charset="-122"/>
                <a:cs typeface="Calibri" pitchFamily="34" charset="-120"/>
              </a:rPr>
              <a:t>Research Lead</a:t>
            </a:r>
            <a:endParaRPr lang="en-US" sz="1100" dirty="0"/>
          </a:p>
        </p:txBody>
      </p:sp>
      <p:sp>
        <p:nvSpPr>
          <p:cNvPr id="9" name="Text 7"/>
          <p:cNvSpPr/>
          <p:nvPr/>
        </p:nvSpPr>
        <p:spPr>
          <a:xfrm>
            <a:off x="1435608" y="1792224"/>
            <a:ext cx="2834640" cy="65836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Literature review, DORA metrics sourcing, industry case studies for Amazon, Netflix, and Flipkart.</a:t>
            </a:r>
            <a:endParaRPr lang="en-US" sz="950" dirty="0"/>
          </a:p>
        </p:txBody>
      </p:sp>
      <p:sp>
        <p:nvSpPr>
          <p:cNvPr id="10" name="Shape 8"/>
          <p:cNvSpPr/>
          <p:nvPr/>
        </p:nvSpPr>
        <p:spPr>
          <a:xfrm>
            <a:off x="4846320" y="1005840"/>
            <a:ext cx="4023360" cy="153619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1" name="Shape 9"/>
          <p:cNvSpPr/>
          <p:nvPr/>
        </p:nvSpPr>
        <p:spPr>
          <a:xfrm>
            <a:off x="5029200" y="1435608"/>
            <a:ext cx="713232" cy="713232"/>
          </a:xfrm>
          <a:prstGeom prst="ellipse">
            <a:avLst/>
          </a:prstGeom>
          <a:solidFill>
            <a:srgbClr val="1A6FBF"/>
          </a:solidFill>
          <a:ln/>
        </p:spPr>
        <p:txBody>
          <a:bodyPr/>
          <a:lstStyle/>
          <a:p>
            <a:endParaRPr lang="en-IN"/>
          </a:p>
        </p:txBody>
      </p:sp>
      <p:sp>
        <p:nvSpPr>
          <p:cNvPr id="12" name="Text 10"/>
          <p:cNvSpPr/>
          <p:nvPr/>
        </p:nvSpPr>
        <p:spPr>
          <a:xfrm>
            <a:off x="5029200" y="1435608"/>
            <a:ext cx="713232"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5870448" y="1170432"/>
            <a:ext cx="2834640" cy="347472"/>
          </a:xfrm>
          <a:prstGeom prst="rect">
            <a:avLst/>
          </a:prstGeom>
          <a:noFill/>
          <a:ln/>
        </p:spPr>
        <p:txBody>
          <a:bodyPr wrap="square" lIns="0" tIns="0" rIns="0" bIns="0" rtlCol="0" anchor="ctr"/>
          <a:lstStyle/>
          <a:p>
            <a:pPr marL="0" indent="0">
              <a:buNone/>
            </a:pPr>
            <a:r>
              <a:rPr lang="en-US" sz="1500" b="1" dirty="0">
                <a:solidFill>
                  <a:srgbClr val="0F4C8A"/>
                </a:solidFill>
                <a:latin typeface="Calibri" pitchFamily="34" charset="0"/>
                <a:ea typeface="Calibri" pitchFamily="34" charset="-122"/>
                <a:cs typeface="Calibri" pitchFamily="34" charset="-120"/>
              </a:rPr>
              <a:t>Member 2</a:t>
            </a:r>
            <a:endParaRPr lang="en-US" sz="1500" dirty="0"/>
          </a:p>
        </p:txBody>
      </p:sp>
      <p:sp>
        <p:nvSpPr>
          <p:cNvPr id="14" name="Text 12"/>
          <p:cNvSpPr/>
          <p:nvPr/>
        </p:nvSpPr>
        <p:spPr>
          <a:xfrm>
            <a:off x="5870448" y="1499616"/>
            <a:ext cx="2834640" cy="256032"/>
          </a:xfrm>
          <a:prstGeom prst="rect">
            <a:avLst/>
          </a:prstGeom>
          <a:noFill/>
          <a:ln/>
        </p:spPr>
        <p:txBody>
          <a:bodyPr wrap="square" lIns="0" tIns="0" rIns="0" bIns="0" rtlCol="0" anchor="ctr"/>
          <a:lstStyle/>
          <a:p>
            <a:pPr marL="0" indent="0">
              <a:buNone/>
            </a:pPr>
            <a:r>
              <a:rPr lang="en-US" sz="1100" dirty="0">
                <a:solidFill>
                  <a:srgbClr val="2D9CDB"/>
                </a:solidFill>
                <a:latin typeface="Calibri" pitchFamily="34" charset="0"/>
                <a:ea typeface="Calibri" pitchFamily="34" charset="-122"/>
                <a:cs typeface="Calibri" pitchFamily="34" charset="-120"/>
              </a:rPr>
              <a:t>Content Author</a:t>
            </a:r>
            <a:endParaRPr lang="en-US" sz="1100" dirty="0"/>
          </a:p>
        </p:txBody>
      </p:sp>
      <p:sp>
        <p:nvSpPr>
          <p:cNvPr id="15" name="Text 13"/>
          <p:cNvSpPr/>
          <p:nvPr/>
        </p:nvSpPr>
        <p:spPr>
          <a:xfrm>
            <a:off x="5870448" y="1792224"/>
            <a:ext cx="2834640" cy="65836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Slide narratives, Waterfall/Agile/DevOps evolution explanations, Zomato scenario construction.</a:t>
            </a:r>
            <a:endParaRPr lang="en-US" sz="950" dirty="0"/>
          </a:p>
        </p:txBody>
      </p:sp>
      <p:sp>
        <p:nvSpPr>
          <p:cNvPr id="16" name="Shape 14"/>
          <p:cNvSpPr/>
          <p:nvPr/>
        </p:nvSpPr>
        <p:spPr>
          <a:xfrm>
            <a:off x="411480" y="2743200"/>
            <a:ext cx="4023360" cy="153619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17" name="Shape 15"/>
          <p:cNvSpPr/>
          <p:nvPr/>
        </p:nvSpPr>
        <p:spPr>
          <a:xfrm>
            <a:off x="594360" y="3172968"/>
            <a:ext cx="713232" cy="713232"/>
          </a:xfrm>
          <a:prstGeom prst="ellipse">
            <a:avLst/>
          </a:prstGeom>
          <a:solidFill>
            <a:srgbClr val="1A6FBF"/>
          </a:solidFill>
          <a:ln/>
        </p:spPr>
        <p:txBody>
          <a:bodyPr/>
          <a:lstStyle/>
          <a:p>
            <a:endParaRPr lang="en-IN"/>
          </a:p>
        </p:txBody>
      </p:sp>
      <p:sp>
        <p:nvSpPr>
          <p:cNvPr id="18" name="Text 16"/>
          <p:cNvSpPr/>
          <p:nvPr/>
        </p:nvSpPr>
        <p:spPr>
          <a:xfrm>
            <a:off x="594360" y="3172968"/>
            <a:ext cx="713232"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1435608" y="2907792"/>
            <a:ext cx="2834640" cy="347472"/>
          </a:xfrm>
          <a:prstGeom prst="rect">
            <a:avLst/>
          </a:prstGeom>
          <a:noFill/>
          <a:ln/>
        </p:spPr>
        <p:txBody>
          <a:bodyPr wrap="square" lIns="0" tIns="0" rIns="0" bIns="0" rtlCol="0" anchor="ctr"/>
          <a:lstStyle/>
          <a:p>
            <a:pPr marL="0" indent="0">
              <a:buNone/>
            </a:pPr>
            <a:r>
              <a:rPr lang="en-US" sz="1500" b="1" dirty="0">
                <a:solidFill>
                  <a:srgbClr val="0F4C8A"/>
                </a:solidFill>
                <a:latin typeface="Calibri" pitchFamily="34" charset="0"/>
                <a:ea typeface="Calibri" pitchFamily="34" charset="-122"/>
                <a:cs typeface="Calibri" pitchFamily="34" charset="-120"/>
              </a:rPr>
              <a:t>Member 3</a:t>
            </a:r>
            <a:endParaRPr lang="en-US" sz="1500" dirty="0"/>
          </a:p>
        </p:txBody>
      </p:sp>
      <p:sp>
        <p:nvSpPr>
          <p:cNvPr id="20" name="Text 18"/>
          <p:cNvSpPr/>
          <p:nvPr/>
        </p:nvSpPr>
        <p:spPr>
          <a:xfrm>
            <a:off x="1435608" y="3236976"/>
            <a:ext cx="2834640" cy="256032"/>
          </a:xfrm>
          <a:prstGeom prst="rect">
            <a:avLst/>
          </a:prstGeom>
          <a:noFill/>
          <a:ln/>
        </p:spPr>
        <p:txBody>
          <a:bodyPr wrap="square" lIns="0" tIns="0" rIns="0" bIns="0" rtlCol="0" anchor="ctr"/>
          <a:lstStyle/>
          <a:p>
            <a:pPr marL="0" indent="0">
              <a:buNone/>
            </a:pPr>
            <a:r>
              <a:rPr lang="en-US" sz="1100" dirty="0">
                <a:solidFill>
                  <a:srgbClr val="2D9CDB"/>
                </a:solidFill>
                <a:latin typeface="Calibri" pitchFamily="34" charset="0"/>
                <a:ea typeface="Calibri" pitchFamily="34" charset="-122"/>
                <a:cs typeface="Calibri" pitchFamily="34" charset="-120"/>
              </a:rPr>
              <a:t>Visual Designer</a:t>
            </a:r>
            <a:endParaRPr lang="en-US" sz="1100" dirty="0"/>
          </a:p>
        </p:txBody>
      </p:sp>
      <p:sp>
        <p:nvSpPr>
          <p:cNvPr id="21" name="Text 19"/>
          <p:cNvSpPr/>
          <p:nvPr/>
        </p:nvSpPr>
        <p:spPr>
          <a:xfrm>
            <a:off x="1435608" y="3529584"/>
            <a:ext cx="2834640" cy="65836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Slide layout, diagram placement, color palette, spacing and formatting consistency.</a:t>
            </a:r>
            <a:endParaRPr lang="en-US" sz="950" dirty="0"/>
          </a:p>
        </p:txBody>
      </p:sp>
      <p:sp>
        <p:nvSpPr>
          <p:cNvPr id="22" name="Shape 20"/>
          <p:cNvSpPr/>
          <p:nvPr/>
        </p:nvSpPr>
        <p:spPr>
          <a:xfrm>
            <a:off x="4846320" y="2743200"/>
            <a:ext cx="4023360" cy="1536192"/>
          </a:xfrm>
          <a:prstGeom prst="rect">
            <a:avLst/>
          </a:prstGeom>
          <a:solidFill>
            <a:srgbClr val="EEF4FB"/>
          </a:solidFill>
          <a:ln w="12700">
            <a:solidFill>
              <a:srgbClr val="D1E3F3"/>
            </a:solidFill>
            <a:prstDash val="solid"/>
          </a:ln>
          <a:effectLst>
            <a:outerShdw blurRad="50800" dist="25400" dir="8100000" algn="bl" rotWithShape="0">
              <a:srgbClr val="000000">
                <a:alpha val="7000"/>
              </a:srgbClr>
            </a:outerShdw>
          </a:effectLst>
        </p:spPr>
        <p:txBody>
          <a:bodyPr/>
          <a:lstStyle/>
          <a:p>
            <a:endParaRPr lang="en-IN"/>
          </a:p>
        </p:txBody>
      </p:sp>
      <p:sp>
        <p:nvSpPr>
          <p:cNvPr id="23" name="Shape 21"/>
          <p:cNvSpPr/>
          <p:nvPr/>
        </p:nvSpPr>
        <p:spPr>
          <a:xfrm>
            <a:off x="5029200" y="3172968"/>
            <a:ext cx="713232" cy="713232"/>
          </a:xfrm>
          <a:prstGeom prst="ellipse">
            <a:avLst/>
          </a:prstGeom>
          <a:solidFill>
            <a:srgbClr val="1A6FBF"/>
          </a:solidFill>
          <a:ln/>
        </p:spPr>
        <p:txBody>
          <a:bodyPr/>
          <a:lstStyle/>
          <a:p>
            <a:endParaRPr lang="en-IN"/>
          </a:p>
        </p:txBody>
      </p:sp>
      <p:sp>
        <p:nvSpPr>
          <p:cNvPr id="24" name="Text 22"/>
          <p:cNvSpPr/>
          <p:nvPr/>
        </p:nvSpPr>
        <p:spPr>
          <a:xfrm>
            <a:off x="5029200" y="3172968"/>
            <a:ext cx="713232"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5870448" y="2907792"/>
            <a:ext cx="2834640" cy="347472"/>
          </a:xfrm>
          <a:prstGeom prst="rect">
            <a:avLst/>
          </a:prstGeom>
          <a:noFill/>
          <a:ln/>
        </p:spPr>
        <p:txBody>
          <a:bodyPr wrap="square" lIns="0" tIns="0" rIns="0" bIns="0" rtlCol="0" anchor="ctr"/>
          <a:lstStyle/>
          <a:p>
            <a:pPr marL="0" indent="0">
              <a:buNone/>
            </a:pPr>
            <a:r>
              <a:rPr lang="en-US" sz="1500" b="1" dirty="0">
                <a:solidFill>
                  <a:srgbClr val="0F4C8A"/>
                </a:solidFill>
                <a:latin typeface="Calibri" pitchFamily="34" charset="0"/>
                <a:ea typeface="Calibri" pitchFamily="34" charset="-122"/>
                <a:cs typeface="Calibri" pitchFamily="34" charset="-120"/>
              </a:rPr>
              <a:t>Member 4</a:t>
            </a:r>
            <a:endParaRPr lang="en-US" sz="1500" dirty="0"/>
          </a:p>
        </p:txBody>
      </p:sp>
      <p:sp>
        <p:nvSpPr>
          <p:cNvPr id="26" name="Text 24"/>
          <p:cNvSpPr/>
          <p:nvPr/>
        </p:nvSpPr>
        <p:spPr>
          <a:xfrm>
            <a:off x="5870448" y="3236976"/>
            <a:ext cx="2834640" cy="256032"/>
          </a:xfrm>
          <a:prstGeom prst="rect">
            <a:avLst/>
          </a:prstGeom>
          <a:noFill/>
          <a:ln/>
        </p:spPr>
        <p:txBody>
          <a:bodyPr wrap="square" lIns="0" tIns="0" rIns="0" bIns="0" rtlCol="0" anchor="ctr"/>
          <a:lstStyle/>
          <a:p>
            <a:pPr marL="0" indent="0">
              <a:buNone/>
            </a:pPr>
            <a:r>
              <a:rPr lang="en-US" sz="1100" dirty="0">
                <a:solidFill>
                  <a:srgbClr val="2D9CDB"/>
                </a:solidFill>
                <a:latin typeface="Calibri" pitchFamily="34" charset="0"/>
                <a:ea typeface="Calibri" pitchFamily="34" charset="-122"/>
                <a:cs typeface="Calibri" pitchFamily="34" charset="-120"/>
              </a:rPr>
              <a:t>Presenter</a:t>
            </a:r>
            <a:endParaRPr lang="en-US" sz="1100" dirty="0"/>
          </a:p>
        </p:txBody>
      </p:sp>
      <p:sp>
        <p:nvSpPr>
          <p:cNvPr id="27" name="Text 25"/>
          <p:cNvSpPr/>
          <p:nvPr/>
        </p:nvSpPr>
        <p:spPr>
          <a:xfrm>
            <a:off x="5870448" y="3529584"/>
            <a:ext cx="2834640" cy="65836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Verbal delivery, Q&amp;A preparation, final rehearsal and timing coordination.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6FBF"/>
          </a:solidFill>
          <a:ln/>
        </p:spPr>
        <p:txBody>
          <a:bodyPr/>
          <a:lstStyle/>
          <a:p>
            <a:endParaRPr lang="en-IN"/>
          </a:p>
        </p:txBody>
      </p:sp>
      <p:sp>
        <p:nvSpPr>
          <p:cNvPr id="3" name="Text 1"/>
          <p:cNvSpPr/>
          <p:nvPr/>
        </p:nvSpPr>
        <p:spPr>
          <a:xfrm>
            <a:off x="411480" y="228600"/>
            <a:ext cx="8321040" cy="594360"/>
          </a:xfrm>
          <a:prstGeom prst="rect">
            <a:avLst/>
          </a:prstGeom>
          <a:noFill/>
          <a:ln/>
        </p:spPr>
        <p:txBody>
          <a:bodyPr wrap="square" lIns="0" tIns="0" rIns="0" bIns="0" rtlCol="0" anchor="ctr"/>
          <a:lstStyle/>
          <a:p>
            <a:pPr marL="0" indent="0">
              <a:buNone/>
            </a:pPr>
            <a:r>
              <a:rPr lang="en-US" sz="2600" b="1" dirty="0">
                <a:solidFill>
                  <a:srgbClr val="0F4C8A"/>
                </a:solidFill>
                <a:latin typeface="Calibri" pitchFamily="34" charset="0"/>
                <a:ea typeface="Calibri" pitchFamily="34" charset="-122"/>
                <a:cs typeface="Calibri" pitchFamily="34" charset="-120"/>
              </a:rPr>
              <a:t>References</a:t>
            </a:r>
            <a:endParaRPr lang="en-US" sz="2600" dirty="0"/>
          </a:p>
        </p:txBody>
      </p:sp>
      <p:sp>
        <p:nvSpPr>
          <p:cNvPr id="4" name="Shape 2"/>
          <p:cNvSpPr/>
          <p:nvPr/>
        </p:nvSpPr>
        <p:spPr>
          <a:xfrm>
            <a:off x="411480" y="960120"/>
            <a:ext cx="8321040" cy="896112"/>
          </a:xfrm>
          <a:prstGeom prst="rect">
            <a:avLst/>
          </a:prstGeom>
          <a:solidFill>
            <a:srgbClr val="EEF4FB"/>
          </a:solidFill>
          <a:ln w="12700">
            <a:solidFill>
              <a:srgbClr val="D1E3F3"/>
            </a:solidFill>
            <a:prstDash val="solid"/>
          </a:ln>
        </p:spPr>
        <p:txBody>
          <a:bodyPr/>
          <a:lstStyle/>
          <a:p>
            <a:endParaRPr lang="en-IN"/>
          </a:p>
        </p:txBody>
      </p:sp>
      <p:sp>
        <p:nvSpPr>
          <p:cNvPr id="5" name="Shape 3"/>
          <p:cNvSpPr/>
          <p:nvPr/>
        </p:nvSpPr>
        <p:spPr>
          <a:xfrm>
            <a:off x="411480" y="960120"/>
            <a:ext cx="411480" cy="896112"/>
          </a:xfrm>
          <a:prstGeom prst="rect">
            <a:avLst/>
          </a:prstGeom>
          <a:solidFill>
            <a:srgbClr val="1A6FBF"/>
          </a:solidFill>
          <a:ln/>
        </p:spPr>
        <p:txBody>
          <a:bodyPr/>
          <a:lstStyle/>
          <a:p>
            <a:endParaRPr lang="en-IN"/>
          </a:p>
        </p:txBody>
      </p:sp>
      <p:sp>
        <p:nvSpPr>
          <p:cNvPr id="6" name="Text 4"/>
          <p:cNvSpPr/>
          <p:nvPr/>
        </p:nvSpPr>
        <p:spPr>
          <a:xfrm>
            <a:off x="411480" y="1234440"/>
            <a:ext cx="411480"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8183880" y="960120"/>
            <a:ext cx="548640" cy="896112"/>
          </a:xfrm>
          <a:prstGeom prst="rect">
            <a:avLst/>
          </a:prstGeom>
          <a:solidFill>
            <a:srgbClr val="EEF4FB"/>
          </a:solidFill>
          <a:ln/>
        </p:spPr>
        <p:txBody>
          <a:bodyPr/>
          <a:lstStyle/>
          <a:p>
            <a:endParaRPr lang="en-IN"/>
          </a:p>
        </p:txBody>
      </p:sp>
      <p:sp>
        <p:nvSpPr>
          <p:cNvPr id="8" name="Text 6"/>
          <p:cNvSpPr/>
          <p:nvPr/>
        </p:nvSpPr>
        <p:spPr>
          <a:xfrm>
            <a:off x="8028432" y="1280160"/>
            <a:ext cx="658368" cy="256032"/>
          </a:xfrm>
          <a:prstGeom prst="rect">
            <a:avLst/>
          </a:prstGeom>
          <a:noFill/>
          <a:ln/>
        </p:spPr>
        <p:txBody>
          <a:bodyPr wrap="square" lIns="0" tIns="0" rIns="0" bIns="0" rtlCol="0" anchor="ctr"/>
          <a:lstStyle/>
          <a:p>
            <a:pPr marL="0" indent="0" algn="r">
              <a:buNone/>
            </a:pPr>
            <a:r>
              <a:rPr lang="en-US" sz="800" i="1" dirty="0">
                <a:solidFill>
                  <a:srgbClr val="2D9CDB"/>
                </a:solidFill>
                <a:latin typeface="Calibri" pitchFamily="34" charset="0"/>
                <a:ea typeface="Calibri" pitchFamily="34" charset="-122"/>
                <a:cs typeface="Calibri" pitchFamily="34" charset="-120"/>
              </a:rPr>
              <a:t>Book / Research</a:t>
            </a:r>
            <a:endParaRPr lang="en-US" sz="800" dirty="0"/>
          </a:p>
        </p:txBody>
      </p:sp>
      <p:sp>
        <p:nvSpPr>
          <p:cNvPr id="9" name="Text 7"/>
          <p:cNvSpPr/>
          <p:nvPr/>
        </p:nvSpPr>
        <p:spPr>
          <a:xfrm>
            <a:off x="914400" y="1014984"/>
            <a:ext cx="7086600" cy="274320"/>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Forsgren, N., Humble, J., &amp; Kim, G. — Accelerate: The Science of Lean Software and DevOps (2018)</a:t>
            </a:r>
            <a:endParaRPr lang="en-US" sz="1050" dirty="0"/>
          </a:p>
        </p:txBody>
      </p:sp>
      <p:sp>
        <p:nvSpPr>
          <p:cNvPr id="10" name="Text 8"/>
          <p:cNvSpPr/>
          <p:nvPr/>
        </p:nvSpPr>
        <p:spPr>
          <a:xfrm>
            <a:off x="914400" y="1325880"/>
            <a:ext cx="7086600" cy="47548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Primary source for DORA metrics cited in this presentation. Uses four-year longitudinal survey data to establish causal links between DevOps practices and organizational performance. Novel insight: proves that software delivery performance predicts organizational performance, not just efficiency.</a:t>
            </a:r>
            <a:endParaRPr lang="en-US" sz="950" dirty="0"/>
          </a:p>
        </p:txBody>
      </p:sp>
      <p:sp>
        <p:nvSpPr>
          <p:cNvPr id="11" name="Shape 9"/>
          <p:cNvSpPr/>
          <p:nvPr/>
        </p:nvSpPr>
        <p:spPr>
          <a:xfrm>
            <a:off x="411480" y="1947672"/>
            <a:ext cx="8321040" cy="896112"/>
          </a:xfrm>
          <a:prstGeom prst="rect">
            <a:avLst/>
          </a:prstGeom>
          <a:solidFill>
            <a:srgbClr val="EEF4FB"/>
          </a:solidFill>
          <a:ln w="12700">
            <a:solidFill>
              <a:srgbClr val="D1E3F3"/>
            </a:solidFill>
            <a:prstDash val="solid"/>
          </a:ln>
        </p:spPr>
        <p:txBody>
          <a:bodyPr/>
          <a:lstStyle/>
          <a:p>
            <a:endParaRPr lang="en-IN"/>
          </a:p>
        </p:txBody>
      </p:sp>
      <p:sp>
        <p:nvSpPr>
          <p:cNvPr id="12" name="Shape 10"/>
          <p:cNvSpPr/>
          <p:nvPr/>
        </p:nvSpPr>
        <p:spPr>
          <a:xfrm>
            <a:off x="411480" y="1947672"/>
            <a:ext cx="411480" cy="896112"/>
          </a:xfrm>
          <a:prstGeom prst="rect">
            <a:avLst/>
          </a:prstGeom>
          <a:solidFill>
            <a:srgbClr val="1A6FBF"/>
          </a:solidFill>
          <a:ln/>
        </p:spPr>
        <p:txBody>
          <a:bodyPr/>
          <a:lstStyle/>
          <a:p>
            <a:endParaRPr lang="en-IN"/>
          </a:p>
        </p:txBody>
      </p:sp>
      <p:sp>
        <p:nvSpPr>
          <p:cNvPr id="13" name="Text 11"/>
          <p:cNvSpPr/>
          <p:nvPr/>
        </p:nvSpPr>
        <p:spPr>
          <a:xfrm>
            <a:off x="411480" y="2221992"/>
            <a:ext cx="411480"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Shape 12"/>
          <p:cNvSpPr/>
          <p:nvPr/>
        </p:nvSpPr>
        <p:spPr>
          <a:xfrm>
            <a:off x="8183880" y="1947672"/>
            <a:ext cx="548640" cy="896112"/>
          </a:xfrm>
          <a:prstGeom prst="rect">
            <a:avLst/>
          </a:prstGeom>
          <a:solidFill>
            <a:srgbClr val="EEF4FB"/>
          </a:solidFill>
          <a:ln/>
        </p:spPr>
        <p:txBody>
          <a:bodyPr/>
          <a:lstStyle/>
          <a:p>
            <a:endParaRPr lang="en-IN"/>
          </a:p>
        </p:txBody>
      </p:sp>
      <p:sp>
        <p:nvSpPr>
          <p:cNvPr id="15" name="Text 13"/>
          <p:cNvSpPr/>
          <p:nvPr/>
        </p:nvSpPr>
        <p:spPr>
          <a:xfrm>
            <a:off x="8028432" y="2267712"/>
            <a:ext cx="658368" cy="256032"/>
          </a:xfrm>
          <a:prstGeom prst="rect">
            <a:avLst/>
          </a:prstGeom>
          <a:noFill/>
          <a:ln/>
        </p:spPr>
        <p:txBody>
          <a:bodyPr wrap="square" lIns="0" tIns="0" rIns="0" bIns="0" rtlCol="0" anchor="ctr"/>
          <a:lstStyle/>
          <a:p>
            <a:pPr marL="0" indent="0" algn="r">
              <a:buNone/>
            </a:pPr>
            <a:r>
              <a:rPr lang="en-US" sz="800" i="1" dirty="0">
                <a:solidFill>
                  <a:srgbClr val="2D9CDB"/>
                </a:solidFill>
                <a:latin typeface="Calibri" pitchFamily="34" charset="0"/>
                <a:ea typeface="Calibri" pitchFamily="34" charset="-122"/>
                <a:cs typeface="Calibri" pitchFamily="34" charset="-120"/>
              </a:rPr>
              <a:t>Official Docs</a:t>
            </a:r>
            <a:endParaRPr lang="en-US" sz="800" dirty="0"/>
          </a:p>
        </p:txBody>
      </p:sp>
      <p:sp>
        <p:nvSpPr>
          <p:cNvPr id="16" name="Text 14"/>
          <p:cNvSpPr/>
          <p:nvPr/>
        </p:nvSpPr>
        <p:spPr>
          <a:xfrm>
            <a:off x="914400" y="2002536"/>
            <a:ext cx="7086600" cy="274320"/>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AWS — What is DevOps? — aws.amazon.com/devops/what-is-devops</a:t>
            </a:r>
            <a:endParaRPr lang="en-US" sz="1050" dirty="0"/>
          </a:p>
        </p:txBody>
      </p:sp>
      <p:sp>
        <p:nvSpPr>
          <p:cNvPr id="17" name="Text 15"/>
          <p:cNvSpPr/>
          <p:nvPr/>
        </p:nvSpPr>
        <p:spPr>
          <a:xfrm>
            <a:off x="914400" y="2313432"/>
            <a:ext cx="7086600" cy="47548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Cloud-vendor perspective on DevOps principles with architecture examples. Particularly useful for understanding how CI/CD pipelines are implemented in practice. Depth: practitioner-level, with specific guidance on toolchain selection and pipeline design patterns.</a:t>
            </a:r>
            <a:endParaRPr lang="en-US" sz="950" dirty="0"/>
          </a:p>
        </p:txBody>
      </p:sp>
      <p:sp>
        <p:nvSpPr>
          <p:cNvPr id="18" name="Shape 16"/>
          <p:cNvSpPr/>
          <p:nvPr/>
        </p:nvSpPr>
        <p:spPr>
          <a:xfrm>
            <a:off x="411480" y="2935224"/>
            <a:ext cx="8321040" cy="896112"/>
          </a:xfrm>
          <a:prstGeom prst="rect">
            <a:avLst/>
          </a:prstGeom>
          <a:solidFill>
            <a:srgbClr val="EEF4FB"/>
          </a:solidFill>
          <a:ln w="12700">
            <a:solidFill>
              <a:srgbClr val="D1E3F3"/>
            </a:solidFill>
            <a:prstDash val="solid"/>
          </a:ln>
        </p:spPr>
        <p:txBody>
          <a:bodyPr/>
          <a:lstStyle/>
          <a:p>
            <a:endParaRPr lang="en-IN"/>
          </a:p>
        </p:txBody>
      </p:sp>
      <p:sp>
        <p:nvSpPr>
          <p:cNvPr id="19" name="Shape 17"/>
          <p:cNvSpPr/>
          <p:nvPr/>
        </p:nvSpPr>
        <p:spPr>
          <a:xfrm>
            <a:off x="411480" y="2935224"/>
            <a:ext cx="411480" cy="896112"/>
          </a:xfrm>
          <a:prstGeom prst="rect">
            <a:avLst/>
          </a:prstGeom>
          <a:solidFill>
            <a:srgbClr val="1A6FBF"/>
          </a:solidFill>
          <a:ln/>
        </p:spPr>
        <p:txBody>
          <a:bodyPr/>
          <a:lstStyle/>
          <a:p>
            <a:endParaRPr lang="en-IN"/>
          </a:p>
        </p:txBody>
      </p:sp>
      <p:sp>
        <p:nvSpPr>
          <p:cNvPr id="20" name="Text 18"/>
          <p:cNvSpPr/>
          <p:nvPr/>
        </p:nvSpPr>
        <p:spPr>
          <a:xfrm>
            <a:off x="411480" y="3209544"/>
            <a:ext cx="411480"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Shape 19"/>
          <p:cNvSpPr/>
          <p:nvPr/>
        </p:nvSpPr>
        <p:spPr>
          <a:xfrm>
            <a:off x="8183880" y="2935224"/>
            <a:ext cx="548640" cy="896112"/>
          </a:xfrm>
          <a:prstGeom prst="rect">
            <a:avLst/>
          </a:prstGeom>
          <a:solidFill>
            <a:srgbClr val="EEF4FB"/>
          </a:solidFill>
          <a:ln/>
        </p:spPr>
        <p:txBody>
          <a:bodyPr/>
          <a:lstStyle/>
          <a:p>
            <a:endParaRPr lang="en-IN"/>
          </a:p>
        </p:txBody>
      </p:sp>
      <p:sp>
        <p:nvSpPr>
          <p:cNvPr id="22" name="Text 20"/>
          <p:cNvSpPr/>
          <p:nvPr/>
        </p:nvSpPr>
        <p:spPr>
          <a:xfrm>
            <a:off x="8028432" y="3255264"/>
            <a:ext cx="658368" cy="256032"/>
          </a:xfrm>
          <a:prstGeom prst="rect">
            <a:avLst/>
          </a:prstGeom>
          <a:noFill/>
          <a:ln/>
        </p:spPr>
        <p:txBody>
          <a:bodyPr wrap="square" lIns="0" tIns="0" rIns="0" bIns="0" rtlCol="0" anchor="ctr"/>
          <a:lstStyle/>
          <a:p>
            <a:pPr marL="0" indent="0" algn="r">
              <a:buNone/>
            </a:pPr>
            <a:r>
              <a:rPr lang="en-US" sz="800" i="1" dirty="0">
                <a:solidFill>
                  <a:srgbClr val="2D9CDB"/>
                </a:solidFill>
                <a:latin typeface="Calibri" pitchFamily="34" charset="0"/>
                <a:ea typeface="Calibri" pitchFamily="34" charset="-122"/>
                <a:cs typeface="Calibri" pitchFamily="34" charset="-120"/>
              </a:rPr>
              <a:t>Official Docs</a:t>
            </a:r>
            <a:endParaRPr lang="en-US" sz="800" dirty="0"/>
          </a:p>
        </p:txBody>
      </p:sp>
      <p:sp>
        <p:nvSpPr>
          <p:cNvPr id="23" name="Text 21"/>
          <p:cNvSpPr/>
          <p:nvPr/>
        </p:nvSpPr>
        <p:spPr>
          <a:xfrm>
            <a:off x="914400" y="2990088"/>
            <a:ext cx="7086600" cy="274320"/>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Microsoft Learn — DevOps Resource Center — learn.microsoft.com/devops</a:t>
            </a:r>
            <a:endParaRPr lang="en-US" sz="1050" dirty="0"/>
          </a:p>
        </p:txBody>
      </p:sp>
      <p:sp>
        <p:nvSpPr>
          <p:cNvPr id="24" name="Text 22"/>
          <p:cNvSpPr/>
          <p:nvPr/>
        </p:nvSpPr>
        <p:spPr>
          <a:xfrm>
            <a:off x="914400" y="3300984"/>
            <a:ext cx="7086600" cy="47548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Comprehensive learning path from conceptual overview to enterprise adoption models. Covers maturity stages, team structure patterns, and Azure DevOps tooling. Novel insight: maturity model framework allows teams to self-assess and prioritize improvements.</a:t>
            </a:r>
            <a:endParaRPr lang="en-US" sz="950" dirty="0"/>
          </a:p>
        </p:txBody>
      </p:sp>
      <p:sp>
        <p:nvSpPr>
          <p:cNvPr id="25" name="Shape 23"/>
          <p:cNvSpPr/>
          <p:nvPr/>
        </p:nvSpPr>
        <p:spPr>
          <a:xfrm>
            <a:off x="411480" y="3922776"/>
            <a:ext cx="8321040" cy="896112"/>
          </a:xfrm>
          <a:prstGeom prst="rect">
            <a:avLst/>
          </a:prstGeom>
          <a:solidFill>
            <a:srgbClr val="EEF4FB"/>
          </a:solidFill>
          <a:ln w="12700">
            <a:solidFill>
              <a:srgbClr val="D1E3F3"/>
            </a:solidFill>
            <a:prstDash val="solid"/>
          </a:ln>
        </p:spPr>
        <p:txBody>
          <a:bodyPr/>
          <a:lstStyle/>
          <a:p>
            <a:endParaRPr lang="en-IN"/>
          </a:p>
        </p:txBody>
      </p:sp>
      <p:sp>
        <p:nvSpPr>
          <p:cNvPr id="26" name="Shape 24"/>
          <p:cNvSpPr/>
          <p:nvPr/>
        </p:nvSpPr>
        <p:spPr>
          <a:xfrm>
            <a:off x="411480" y="3922776"/>
            <a:ext cx="411480" cy="896112"/>
          </a:xfrm>
          <a:prstGeom prst="rect">
            <a:avLst/>
          </a:prstGeom>
          <a:solidFill>
            <a:srgbClr val="1A6FBF"/>
          </a:solidFill>
          <a:ln/>
        </p:spPr>
        <p:txBody>
          <a:bodyPr/>
          <a:lstStyle/>
          <a:p>
            <a:endParaRPr lang="en-IN"/>
          </a:p>
        </p:txBody>
      </p:sp>
      <p:sp>
        <p:nvSpPr>
          <p:cNvPr id="27" name="Text 25"/>
          <p:cNvSpPr/>
          <p:nvPr/>
        </p:nvSpPr>
        <p:spPr>
          <a:xfrm>
            <a:off x="411480" y="4197096"/>
            <a:ext cx="411480" cy="34747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Shape 26"/>
          <p:cNvSpPr/>
          <p:nvPr/>
        </p:nvSpPr>
        <p:spPr>
          <a:xfrm>
            <a:off x="8183880" y="3922776"/>
            <a:ext cx="548640" cy="896112"/>
          </a:xfrm>
          <a:prstGeom prst="rect">
            <a:avLst/>
          </a:prstGeom>
          <a:solidFill>
            <a:srgbClr val="EEF4FB"/>
          </a:solidFill>
          <a:ln/>
        </p:spPr>
        <p:txBody>
          <a:bodyPr/>
          <a:lstStyle/>
          <a:p>
            <a:endParaRPr lang="en-IN"/>
          </a:p>
        </p:txBody>
      </p:sp>
      <p:sp>
        <p:nvSpPr>
          <p:cNvPr id="29" name="Text 27"/>
          <p:cNvSpPr/>
          <p:nvPr/>
        </p:nvSpPr>
        <p:spPr>
          <a:xfrm>
            <a:off x="8028432" y="4242816"/>
            <a:ext cx="658368" cy="256032"/>
          </a:xfrm>
          <a:prstGeom prst="rect">
            <a:avLst/>
          </a:prstGeom>
          <a:noFill/>
          <a:ln/>
        </p:spPr>
        <p:txBody>
          <a:bodyPr wrap="square" lIns="0" tIns="0" rIns="0" bIns="0" rtlCol="0" anchor="ctr"/>
          <a:lstStyle/>
          <a:p>
            <a:pPr marL="0" indent="0" algn="r">
              <a:buNone/>
            </a:pPr>
            <a:r>
              <a:rPr lang="en-US" sz="800" i="1" dirty="0">
                <a:solidFill>
                  <a:srgbClr val="2D9CDB"/>
                </a:solidFill>
                <a:latin typeface="Calibri" pitchFamily="34" charset="0"/>
                <a:ea typeface="Calibri" pitchFamily="34" charset="-122"/>
                <a:cs typeface="Calibri" pitchFamily="34" charset="-120"/>
              </a:rPr>
              <a:t>Industry Report</a:t>
            </a:r>
            <a:endParaRPr lang="en-US" sz="800" dirty="0"/>
          </a:p>
        </p:txBody>
      </p:sp>
      <p:sp>
        <p:nvSpPr>
          <p:cNvPr id="30" name="Text 28"/>
          <p:cNvSpPr/>
          <p:nvPr/>
        </p:nvSpPr>
        <p:spPr>
          <a:xfrm>
            <a:off x="914400" y="3977640"/>
            <a:ext cx="7086600" cy="274320"/>
          </a:xfrm>
          <a:prstGeom prst="rect">
            <a:avLst/>
          </a:prstGeom>
          <a:noFill/>
          <a:ln/>
        </p:spPr>
        <p:txBody>
          <a:bodyPr wrap="square" lIns="0" tIns="0" rIns="0" bIns="0" rtlCol="0" anchor="ctr"/>
          <a:lstStyle/>
          <a:p>
            <a:pPr marL="0" indent="0">
              <a:buNone/>
            </a:pPr>
            <a:r>
              <a:rPr lang="en-US" sz="1050" b="1" dirty="0">
                <a:solidFill>
                  <a:srgbClr val="0F4C8A"/>
                </a:solidFill>
                <a:latin typeface="Calibri" pitchFamily="34" charset="0"/>
                <a:ea typeface="Calibri" pitchFamily="34" charset="-122"/>
                <a:cs typeface="Calibri" pitchFamily="34" charset="-120"/>
              </a:rPr>
              <a:t>Google Cloud — DORA State of DevOps Report 2023</a:t>
            </a:r>
            <a:endParaRPr lang="en-US" sz="1050" dirty="0"/>
          </a:p>
        </p:txBody>
      </p:sp>
      <p:sp>
        <p:nvSpPr>
          <p:cNvPr id="31" name="Text 29"/>
          <p:cNvSpPr/>
          <p:nvPr/>
        </p:nvSpPr>
        <p:spPr>
          <a:xfrm>
            <a:off x="914400" y="4288536"/>
            <a:ext cx="7086600" cy="475488"/>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Annual industry survey across 32,000+ respondents tracking DevOps adoption globally. Provides benchmark data on deployment frequency, lead time, MTTR, and change failure rate. Depth: quantitative analysis with industry-specific segmentation and trend data since 2014.</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2383</Words>
  <Application>Microsoft Office PowerPoint</Application>
  <PresentationFormat>On-screen Show (16:9)</PresentationFormat>
  <Paragraphs>239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Overview and Evolution</dc:title>
  <dc:subject>PptxGenJS Presentation</dc:subject>
  <dc:creator>PptxGenJS</dc:creator>
  <cp:lastModifiedBy>Nitanshu Tak</cp:lastModifiedBy>
  <cp:revision>2</cp:revision>
  <dcterms:created xsi:type="dcterms:W3CDTF">2026-04-16T17:59:11Z</dcterms:created>
  <dcterms:modified xsi:type="dcterms:W3CDTF">2026-04-16T18:14:39Z</dcterms:modified>
</cp:coreProperties>
</file>