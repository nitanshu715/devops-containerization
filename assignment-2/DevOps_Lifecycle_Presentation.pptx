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73152"/>
            <a:ext cx="2926080" cy="5070348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972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Lifecycle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Continuous Software Delivery Process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II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DevOps Engineering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 Code  Build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Release  Deploy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0" y="3154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Development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384048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and Ops teams worked in complete isolation with separate goals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194560"/>
            <a:ext cx="384048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267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Delivery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5786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releases took weeks or months through manual handoffs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383280"/>
            <a:ext cx="384048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Failures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767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discovered only after deployment — expensive to fix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005840"/>
            <a:ext cx="384048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13898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had no visibility into how software performed in production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194560"/>
            <a:ext cx="384048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2267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25786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tasks like testing and deployment done by hand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3383280"/>
            <a:ext cx="384048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 Culture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3767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broke, teams blamed each other instead of fixing root causes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bottlenecks created a need for a new, integrated approach to software delivery.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DevOps?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96012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 a set of practices, cultural philosophies, and tools that combines software development (Dev) and IT operations (Ops) to shorten the software development lifecycle and deliver high-quality software continuously.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148840"/>
            <a:ext cx="1920240" cy="256032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34015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ownership, collaboration between Dev and Ops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96312" y="2148840"/>
            <a:ext cx="1920240" cy="256032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228600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87752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587752" y="34015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reduce manual effort and human error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81144" y="2148840"/>
            <a:ext cx="1920240" cy="256032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22860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72584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672584" y="34015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monitoring drive continuous improvement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665976" y="2148840"/>
            <a:ext cx="1920240" cy="256032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28600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57416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757416" y="34015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and tooling shared across the entire team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DevOps Lifecycle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feedback-driven loop of eight interconnected stages</a:t>
            </a:r>
            <a:endParaRPr lang="en-US" sz="1300" dirty="0"/>
          </a:p>
        </p:txBody>
      </p:sp>
      <p:pic>
        <p:nvPicPr>
          <p:cNvPr id="5" name="Image 0" descr="/home/claude/lifecycl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143000"/>
            <a:ext cx="83210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 User — The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 change travels through a structured pipeline before reaching the end user</a:t>
            </a:r>
            <a:endParaRPr lang="en-US" sz="1300" dirty="0"/>
          </a:p>
        </p:txBody>
      </p:sp>
      <p:pic>
        <p:nvPicPr>
          <p:cNvPr id="5" name="Image 0" descr="/home/claude/flow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859536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4526280"/>
            <a:ext cx="8321040" cy="4114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544568"/>
            <a:ext cx="7955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dashed feedback arrow represents continuous improvement — user feedback informs the next planning cycle.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Stages — Development 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38404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50292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3327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Plan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60604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define features, user stories, and sprint goals using tools like Jira or Trello. Clear requirements prevent rework downstream.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50592" y="1005840"/>
            <a:ext cx="2011680" cy="38404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50592" y="1005840"/>
            <a:ext cx="2011680" cy="50292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11" name="Text 8"/>
          <p:cNvSpPr/>
          <p:nvPr/>
        </p:nvSpPr>
        <p:spPr>
          <a:xfrm>
            <a:off x="2542032" y="103327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Code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1691640"/>
            <a:ext cx="822960" cy="8229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42032" y="260604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write and commit code to version-controlled repositories. Peer reviews and branching strategies maintain quality.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26864" y="1005840"/>
            <a:ext cx="2011680" cy="38404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26864" y="1005840"/>
            <a:ext cx="2011680" cy="50292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16" name="Text 12"/>
          <p:cNvSpPr/>
          <p:nvPr/>
        </p:nvSpPr>
        <p:spPr>
          <a:xfrm>
            <a:off x="4718304" y="103327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Build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1691640"/>
            <a:ext cx="822960" cy="8229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18304" y="260604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is compiled, dependencies resolved, and artifacts created. Build automation tools like Maven or Gradle handle this step.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803136" y="1005840"/>
            <a:ext cx="2011680" cy="38404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03136" y="1005840"/>
            <a:ext cx="2011680" cy="50292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21" name="Text 16"/>
          <p:cNvSpPr/>
          <p:nvPr/>
        </p:nvSpPr>
        <p:spPr>
          <a:xfrm>
            <a:off x="6894576" y="103327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Test</a:t>
            </a:r>
            <a:endParaRPr lang="en-US" sz="14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1691640"/>
            <a:ext cx="822960" cy="8229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94576" y="260604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suites — unit, integration, and regression — validate the build. Defects are caught here, not in production.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Stages — Operations 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38404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50292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3327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Release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60604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artifacts are packaged and prepared for deployment. Approval gates and release notes ensure stakeholder alignment.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50592" y="1005840"/>
            <a:ext cx="2011680" cy="38404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50592" y="1005840"/>
            <a:ext cx="2011680" cy="50292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11" name="Text 8"/>
          <p:cNvSpPr/>
          <p:nvPr/>
        </p:nvSpPr>
        <p:spPr>
          <a:xfrm>
            <a:off x="2542032" y="103327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Deploy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1691640"/>
            <a:ext cx="822960" cy="8229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42032" y="260604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tools like Terraform provision environments. Containers and orchestration platforms enable consistent deployments.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26864" y="1005840"/>
            <a:ext cx="2011680" cy="38404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26864" y="1005840"/>
            <a:ext cx="2011680" cy="50292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16" name="Text 12"/>
          <p:cNvSpPr/>
          <p:nvPr/>
        </p:nvSpPr>
        <p:spPr>
          <a:xfrm>
            <a:off x="4718304" y="103327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Operate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1691640"/>
            <a:ext cx="822960" cy="8229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18304" y="260604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runs in production. On-call teams manage incidents, perform capacity planning, and handle routine operations.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803136" y="1005840"/>
            <a:ext cx="2011680" cy="38404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03136" y="1005840"/>
            <a:ext cx="2011680" cy="50292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21" name="Text 16"/>
          <p:cNvSpPr/>
          <p:nvPr/>
        </p:nvSpPr>
        <p:spPr>
          <a:xfrm>
            <a:off x="6894576" y="103327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Monitor</a:t>
            </a:r>
            <a:endParaRPr lang="en-US" sz="14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1691640"/>
            <a:ext cx="822960" cy="8229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94576" y="2606040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tools like Datadog or Prometheus track latency, error rates, and throughput. Alerts are triggered on anomalies.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Scenario: Swiggy's Live Order Tracking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54864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41832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product manager notices that customers are abandoning orders mid-delivery because they cannot see real-time tracking updates. The engineering team is tasked with shipping a redesigned tracking feature within 5 days.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4206240" cy="8686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00200"/>
            <a:ext cx="777240" cy="86868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847088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67335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defines requirements in Jira — GPS polling intervals, UI components, edge cases for delivery delays.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4206240" cy="8686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606040"/>
            <a:ext cx="777240" cy="86868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2852928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67919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build the tracking service in a feature branch, enabling code review before merging to main.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611880"/>
            <a:ext cx="4206240" cy="8686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611880"/>
            <a:ext cx="777240" cy="86868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3858768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368503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compiles the backend service and bundles the React Native UI in under 3 minutes.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1600200"/>
            <a:ext cx="4206240" cy="8686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600200"/>
            <a:ext cx="777240" cy="86868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1847088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15000" y="167335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simulate 10,000 concurrent tracking sessions; a crash bug is found and fixed before release.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606040"/>
            <a:ext cx="4206240" cy="8686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606040"/>
            <a:ext cx="777240" cy="86868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2852928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267919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is deployed to 2% of users via a canary release — not all 8 crore users at once.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611880"/>
            <a:ext cx="4206240" cy="8686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611880"/>
            <a:ext cx="777240" cy="86868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3858768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368503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alerts fire when p99 latency spikes. Engineers roll back one microservice and the issue resolves in 4 minutes.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DevOps Delivers Business Value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920240" cy="1463040"/>
          </a:xfrm>
          <a:prstGeom prst="rect">
            <a:avLst/>
          </a:prstGeom>
          <a:solidFill>
            <a:srgbClr val="1A6FB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46x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7099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frequent software deployments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96312" y="960120"/>
            <a:ext cx="1920240" cy="1463040"/>
          </a:xfrm>
          <a:prstGeom prst="rect">
            <a:avLst/>
          </a:prstGeom>
          <a:solidFill>
            <a:srgbClr val="1A6FB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1051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440x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87752" y="17099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lead time from commit to deploy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81144" y="960120"/>
            <a:ext cx="1920240" cy="1463040"/>
          </a:xfrm>
          <a:prstGeom prst="rect">
            <a:avLst/>
          </a:prstGeom>
          <a:solidFill>
            <a:srgbClr val="1A6FB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2584" y="1051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72584" y="17099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mean time to recover from failure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65976" y="960120"/>
            <a:ext cx="1920240" cy="1463040"/>
          </a:xfrm>
          <a:prstGeom prst="rect">
            <a:avLst/>
          </a:prstGeom>
          <a:solidFill>
            <a:srgbClr val="1A6FB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57416" y="1051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57416" y="17099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change failure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487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DORA State of DevOps Report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834640"/>
            <a:ext cx="1920240" cy="20116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834640"/>
            <a:ext cx="1920240" cy="54864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33756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pipelines ship features in hours, not weeks. Rapid iteration keeps products competitive.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96312" y="2834640"/>
            <a:ext cx="1920240" cy="20116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96312" y="2834640"/>
            <a:ext cx="1920240" cy="54864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23" name="Text 21"/>
          <p:cNvSpPr/>
          <p:nvPr/>
        </p:nvSpPr>
        <p:spPr>
          <a:xfrm>
            <a:off x="2587752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87752" y="333756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frequent releases reduce deployment risk. Automated rollbacks prevent prolonged outages.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81144" y="2834640"/>
            <a:ext cx="1920240" cy="20116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1144" y="2834640"/>
            <a:ext cx="1920240" cy="54864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27" name="Text 25"/>
          <p:cNvSpPr/>
          <p:nvPr/>
        </p:nvSpPr>
        <p:spPr>
          <a:xfrm>
            <a:off x="4672584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72584" y="333756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enables repeatable environments that scale without manual configuration.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65976" y="2834640"/>
            <a:ext cx="1920240" cy="20116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65976" y="2834640"/>
            <a:ext cx="1920240" cy="54864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31" name="Text 29"/>
          <p:cNvSpPr/>
          <p:nvPr/>
        </p:nvSpPr>
        <p:spPr>
          <a:xfrm>
            <a:off x="6757416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57416" y="333756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tooling and on-call responsibilities break down the wall between Dev and Ops teams.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of DevOps: CI/CD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8862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50292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24128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merge code to a shared branch multiple times a day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merge triggers an automated build and test sequence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are caught within minutes, not after weeks of divergence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GitHub Actions, Jenkins, GitLab CI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651760" cy="38862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05840"/>
            <a:ext cx="2651760" cy="502920"/>
          </a:xfrm>
          <a:prstGeom prst="rect">
            <a:avLst/>
          </a:prstGeom>
          <a:solidFill>
            <a:srgbClr val="1A7FA0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24128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627632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passing build is automatically packaged and ready to release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 staging is fully automated; production requires manual approval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 release on any day, at any time, with confidence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Spinnaker, AWS CodePipeline, Harness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1005840"/>
            <a:ext cx="2651760" cy="38862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1005840"/>
            <a:ext cx="2651760" cy="50292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024128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627632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passing build is automatically deployed to production with no manual step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organizations with high test coverage and mature monitoring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deploys thousands of times per day using this model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Argo CD, Flux, Kubernetes GitOps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— The Heartbeat of DevOps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converts operational data into actionable improvements. Without it, the lifecycle cannot close.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36118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023360" cy="41148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5272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to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requests take. High latency directly correlates with user abandonment.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requests that fail. A spike often signals a bad deployment.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236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5112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processed per second. Drops indicate infrastructure or code problems.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986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261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full a resource is — CPU, memory, disk. Predicts when systems will fail.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61188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234440"/>
            <a:ext cx="4023360" cy="41148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5272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Feedback Loop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783080"/>
            <a:ext cx="320040" cy="320040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764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2011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alerts fire when a metric crosses a defined threshold.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32888"/>
            <a:ext cx="320040" cy="320040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2761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engineers investigate using dashboards and distributed traces.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282696"/>
            <a:ext cx="320040" cy="320040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3236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351129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 is deployed or a rollback is triggered through the same pipeline.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4032504"/>
            <a:ext cx="320040" cy="320040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4014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3986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426110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reviews feed learnings back into the Plan stage as backlog items.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Development vs DevOps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194560" cy="530352"/>
          </a:xfrm>
          <a:prstGeom prst="rect">
            <a:avLst/>
          </a:prstGeom>
          <a:solidFill>
            <a:srgbClr val="1A6FBF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960120"/>
            <a:ext cx="3108960" cy="530352"/>
          </a:xfrm>
          <a:prstGeom prst="rect">
            <a:avLst/>
          </a:prstGeom>
          <a:solidFill>
            <a:srgbClr val="1A6FBF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0058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7880" y="960120"/>
            <a:ext cx="2834640" cy="530352"/>
          </a:xfrm>
          <a:prstGeom prst="rect">
            <a:avLst/>
          </a:prstGeom>
          <a:solidFill>
            <a:srgbClr val="1A6FBF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058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536192"/>
            <a:ext cx="2194560" cy="530352"/>
          </a:xfrm>
          <a:prstGeom prst="rect">
            <a:avLst/>
          </a:prstGeom>
          <a:solidFill>
            <a:srgbClr val="EEF4FB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81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Cycle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97480" y="1536192"/>
            <a:ext cx="3108960" cy="530352"/>
          </a:xfrm>
          <a:prstGeom prst="rect">
            <a:avLst/>
          </a:prstGeom>
          <a:solidFill>
            <a:srgbClr val="EEF4FB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1536192"/>
            <a:ext cx="54864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58191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months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1536192"/>
            <a:ext cx="2834640" cy="530352"/>
          </a:xfrm>
          <a:prstGeom prst="rect">
            <a:avLst/>
          </a:prstGeom>
          <a:solidFill>
            <a:srgbClr val="EEF4FB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1536192"/>
            <a:ext cx="54864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5819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days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112264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1579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97480" y="2112264"/>
            <a:ext cx="3108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7480" y="2112264"/>
            <a:ext cx="54864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15798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Dev and Ops silos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2112264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2112264"/>
            <a:ext cx="54864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215798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Cross-functional, shared ownership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2688336"/>
            <a:ext cx="2194560" cy="530352"/>
          </a:xfrm>
          <a:prstGeom prst="rect">
            <a:avLst/>
          </a:prstGeom>
          <a:solidFill>
            <a:srgbClr val="EEF4FB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7340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97480" y="2688336"/>
            <a:ext cx="3108960" cy="530352"/>
          </a:xfrm>
          <a:prstGeom prst="rect">
            <a:avLst/>
          </a:prstGeom>
          <a:solidFill>
            <a:srgbClr val="EEF4FB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7480" y="2688336"/>
            <a:ext cx="54864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273405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done at end of cycle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97880" y="2688336"/>
            <a:ext cx="2834640" cy="530352"/>
          </a:xfrm>
          <a:prstGeom prst="rect">
            <a:avLst/>
          </a:prstGeom>
          <a:solidFill>
            <a:srgbClr val="EEF4FB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88336"/>
            <a:ext cx="54864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273405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continuous throughout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3264408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3101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97480" y="3264408"/>
            <a:ext cx="3108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97480" y="3264408"/>
            <a:ext cx="54864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2834640" y="33101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Post-release feedback only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897880" y="3264408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3264408"/>
            <a:ext cx="54864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1" name="Text 39"/>
          <p:cNvSpPr/>
          <p:nvPr/>
        </p:nvSpPr>
        <p:spPr>
          <a:xfrm>
            <a:off x="6035040" y="33101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and fast iteration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11480" y="3840480"/>
            <a:ext cx="2194560" cy="530352"/>
          </a:xfrm>
          <a:prstGeom prst="rect">
            <a:avLst/>
          </a:prstGeom>
          <a:solidFill>
            <a:srgbClr val="EEF4FB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886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697480" y="3840480"/>
            <a:ext cx="3108960" cy="530352"/>
          </a:xfrm>
          <a:prstGeom prst="rect">
            <a:avLst/>
          </a:prstGeom>
          <a:solidFill>
            <a:srgbClr val="EEF4FB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97480" y="3840480"/>
            <a:ext cx="54864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2834640" y="38862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provisioned servers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897880" y="3840480"/>
            <a:ext cx="2834640" cy="530352"/>
          </a:xfrm>
          <a:prstGeom prst="rect">
            <a:avLst/>
          </a:prstGeom>
          <a:solidFill>
            <a:srgbClr val="EEF4FB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97880" y="3840480"/>
            <a:ext cx="54864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9" name="Text 47"/>
          <p:cNvSpPr/>
          <p:nvPr/>
        </p:nvSpPr>
        <p:spPr>
          <a:xfrm>
            <a:off x="6035040" y="38862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Infrastructure-as-Code, fully automated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11480" y="4416552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4622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697480" y="4416552"/>
            <a:ext cx="3108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97480" y="4416552"/>
            <a:ext cx="54864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4" name="Text 52"/>
          <p:cNvSpPr/>
          <p:nvPr/>
        </p:nvSpPr>
        <p:spPr>
          <a:xfrm>
            <a:off x="2834640" y="44622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investigation and hotfixes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897880" y="4416552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97880" y="4416552"/>
            <a:ext cx="54864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7" name="Text 55"/>
          <p:cNvSpPr/>
          <p:nvPr/>
        </p:nvSpPr>
        <p:spPr>
          <a:xfrm>
            <a:off x="6035040" y="44622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rollbacks, blameless post-mortems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23360" cy="150876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685800" cy="685800"/>
          </a:xfrm>
          <a:prstGeom prst="ellipse">
            <a:avLst/>
          </a:prstGeom>
          <a:solidFill>
            <a:srgbClr val="1A6FB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170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Lead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review, source collection, identifying real-world case studies and DORA metrics.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023360" cy="150876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417320"/>
            <a:ext cx="685800" cy="685800"/>
          </a:xfrm>
          <a:prstGeom prst="ellipse">
            <a:avLst/>
          </a:prstGeom>
          <a:solidFill>
            <a:srgbClr val="1A6FB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852160" y="1170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5216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Author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slide narratives, scenario construction, stage-by-stage lifecycle explanations.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97480"/>
            <a:ext cx="4023360" cy="150876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108960"/>
            <a:ext cx="685800" cy="685800"/>
          </a:xfrm>
          <a:prstGeom prst="ellipse">
            <a:avLst/>
          </a:prstGeom>
          <a:solidFill>
            <a:srgbClr val="1A6FB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2862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172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layout, diagram integration, color palette, and formatting consistency.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697480"/>
            <a:ext cx="4023360" cy="150876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3108960"/>
            <a:ext cx="685800" cy="685800"/>
          </a:xfrm>
          <a:prstGeom prst="ellipse">
            <a:avLst/>
          </a:prstGeom>
          <a:solidFill>
            <a:srgbClr val="1A6FB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52160" y="2862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52160" y="3172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delivery, Q&amp;A preparation, final rehearsal coordination.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411480" cy="91440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34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83880" y="960120"/>
            <a:ext cx="548640" cy="91440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1280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/ DORA Research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01498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Forsgren, N., Humble, J., &amp; Kim, G. — Accelerate: The Science of Lean Software and DevOps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34416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research on high-performing DevOps teams. Presents the DORA metrics framework used to quantify delivery speed and stability. Novel insight: uses survey-based research at scale to prove causal links between technical practices and organizational outcomes.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965960"/>
            <a:ext cx="832104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65960"/>
            <a:ext cx="411480" cy="91440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2402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83880" y="1965960"/>
            <a:ext cx="548640" cy="91440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Documentation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202082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— What is DevOps? (aws.amazon.com/devops/what-is-devops)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35000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cloud-vendor perspective on DevOps principles and tooling. Covers CI/CD, microservices, infrastructure-as-code, and monitoring. Depth: practitioner-level with architecture diagrams. Useful for linking lifecycle theory to real cloud implementations.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971800"/>
            <a:ext cx="832104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971800"/>
            <a:ext cx="411480" cy="91440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246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183880" y="2971800"/>
            <a:ext cx="548640" cy="91440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Documentation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302666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— DevOps Resource Center (learn.microsoft.com/devops)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35584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learning path covering DevOps culture, practices, and Azure-specific tooling. Novel insight: includes enterprise adoption paths and maturity models. Depth: from beginner conceptual overview to advanced pipeline design.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977640"/>
            <a:ext cx="832104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977640"/>
            <a:ext cx="411480" cy="91440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42519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183880" y="3977640"/>
            <a:ext cx="548640" cy="91440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0" y="4297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Research Report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14400" y="403250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— DORA State of DevOps Report 2023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36168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industry survey tracking DevOps performance metrics across thousands of organizations globally. Used for deployment frequency and MTTR statistics cited in this presentation. Depth: quantitative analysis with industry benchmarks and trend data.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Lifecycle</dc:title>
  <dc:subject>PptxGenJS Presentation</dc:subject>
  <dc:creator>PptxGenJS</dc:creator>
  <cp:lastModifiedBy>PptxGenJS</cp:lastModifiedBy>
  <cp:revision>1</cp:revision>
  <dcterms:created xsi:type="dcterms:W3CDTF">2026-04-13T17:32:19Z</dcterms:created>
  <dcterms:modified xsi:type="dcterms:W3CDTF">2026-04-13T17:32:19Z</dcterms:modified>
</cp:coreProperties>
</file>